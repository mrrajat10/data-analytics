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</p:sldIdLst>
  <p:sldSz cx="18288000" cy="10287000"/>
  <p:notesSz cx="6858000" cy="9144000"/>
  <p:embeddedFontLst>
    <p:embeddedFont>
      <p:font typeface="Chewy" panose="020B0604020202020204" charset="0"/>
      <p:regular r:id="rId18"/>
    </p:embeddedFont>
    <p:embeddedFont>
      <p:font typeface="TT Rounds Condensed" panose="020B0604020202020204" charset="0"/>
      <p:regular r:id="rId19"/>
    </p:embeddedFont>
    <p:embeddedFont>
      <p:font typeface="TT Rounds Condensed Bold" panose="020B0604020202020204" charset="0"/>
      <p:regular r:id="rId20"/>
    </p:embeddedFon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Baloo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20" d="100"/>
          <a:sy n="20" d="100"/>
        </p:scale>
        <p:origin x="859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8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sv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6CC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07331" y="1018621"/>
            <a:ext cx="20830043" cy="3382958"/>
            <a:chOff x="0" y="0"/>
            <a:chExt cx="5115576" cy="83080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15577" cy="830808"/>
            </a:xfrm>
            <a:custGeom>
              <a:avLst/>
              <a:gdLst/>
              <a:ahLst/>
              <a:cxnLst/>
              <a:rect l="l" t="t" r="r" b="b"/>
              <a:pathLst>
                <a:path w="5115577" h="830808">
                  <a:moveTo>
                    <a:pt x="13380" y="0"/>
                  </a:moveTo>
                  <a:lnTo>
                    <a:pt x="5102196" y="0"/>
                  </a:lnTo>
                  <a:cubicBezTo>
                    <a:pt x="5105745" y="0"/>
                    <a:pt x="5109148" y="1410"/>
                    <a:pt x="5111657" y="3919"/>
                  </a:cubicBezTo>
                  <a:cubicBezTo>
                    <a:pt x="5114167" y="6428"/>
                    <a:pt x="5115577" y="9832"/>
                    <a:pt x="5115577" y="13380"/>
                  </a:cubicBezTo>
                  <a:lnTo>
                    <a:pt x="5115577" y="817428"/>
                  </a:lnTo>
                  <a:cubicBezTo>
                    <a:pt x="5115577" y="820977"/>
                    <a:pt x="5114167" y="824380"/>
                    <a:pt x="5111657" y="826890"/>
                  </a:cubicBezTo>
                  <a:cubicBezTo>
                    <a:pt x="5109148" y="829399"/>
                    <a:pt x="5105745" y="830808"/>
                    <a:pt x="5102196" y="830808"/>
                  </a:cubicBezTo>
                  <a:lnTo>
                    <a:pt x="13380" y="830808"/>
                  </a:lnTo>
                  <a:cubicBezTo>
                    <a:pt x="9832" y="830808"/>
                    <a:pt x="6428" y="829399"/>
                    <a:pt x="3919" y="826890"/>
                  </a:cubicBezTo>
                  <a:cubicBezTo>
                    <a:pt x="1410" y="824380"/>
                    <a:pt x="0" y="820977"/>
                    <a:pt x="0" y="817428"/>
                  </a:cubicBezTo>
                  <a:lnTo>
                    <a:pt x="0" y="13380"/>
                  </a:lnTo>
                  <a:cubicBezTo>
                    <a:pt x="0" y="9832"/>
                    <a:pt x="1410" y="6428"/>
                    <a:pt x="3919" y="3919"/>
                  </a:cubicBezTo>
                  <a:cubicBezTo>
                    <a:pt x="6428" y="1410"/>
                    <a:pt x="9832" y="0"/>
                    <a:pt x="13380" y="0"/>
                  </a:cubicBezTo>
                  <a:close/>
                </a:path>
              </a:pathLst>
            </a:custGeom>
            <a:solidFill>
              <a:srgbClr val="1D79CD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23850"/>
              <a:ext cx="5115576" cy="1154659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210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764075" y="3863422"/>
            <a:ext cx="8687231" cy="1483842"/>
            <a:chOff x="0" y="0"/>
            <a:chExt cx="2133466" cy="36441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33466" cy="364411"/>
            </a:xfrm>
            <a:custGeom>
              <a:avLst/>
              <a:gdLst/>
              <a:ahLst/>
              <a:cxnLst/>
              <a:rect l="l" t="t" r="r" b="b"/>
              <a:pathLst>
                <a:path w="2133466" h="364411">
                  <a:moveTo>
                    <a:pt x="45450" y="0"/>
                  </a:moveTo>
                  <a:lnTo>
                    <a:pt x="2088016" y="0"/>
                  </a:lnTo>
                  <a:cubicBezTo>
                    <a:pt x="2100070" y="0"/>
                    <a:pt x="2111630" y="4789"/>
                    <a:pt x="2120154" y="13312"/>
                  </a:cubicBezTo>
                  <a:cubicBezTo>
                    <a:pt x="2128678" y="21836"/>
                    <a:pt x="2133466" y="33396"/>
                    <a:pt x="2133466" y="45450"/>
                  </a:cubicBezTo>
                  <a:lnTo>
                    <a:pt x="2133466" y="318961"/>
                  </a:lnTo>
                  <a:cubicBezTo>
                    <a:pt x="2133466" y="344063"/>
                    <a:pt x="2113117" y="364411"/>
                    <a:pt x="2088016" y="364411"/>
                  </a:cubicBezTo>
                  <a:lnTo>
                    <a:pt x="45450" y="364411"/>
                  </a:lnTo>
                  <a:cubicBezTo>
                    <a:pt x="20349" y="364411"/>
                    <a:pt x="0" y="344063"/>
                    <a:pt x="0" y="318961"/>
                  </a:cubicBezTo>
                  <a:lnTo>
                    <a:pt x="0" y="45450"/>
                  </a:lnTo>
                  <a:cubicBezTo>
                    <a:pt x="0" y="20349"/>
                    <a:pt x="20349" y="0"/>
                    <a:pt x="45450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152400"/>
              <a:ext cx="2133466" cy="5168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9939"/>
                </a:lnSpc>
              </a:pPr>
              <a:r>
                <a:rPr lang="en-US" sz="7099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Using Excel 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0" y="8246029"/>
            <a:ext cx="3390434" cy="2024542"/>
          </a:xfrm>
          <a:custGeom>
            <a:avLst/>
            <a:gdLst/>
            <a:ahLst/>
            <a:cxnLst/>
            <a:rect l="l" t="t" r="r" b="b"/>
            <a:pathLst>
              <a:path w="3390434" h="2024542">
                <a:moveTo>
                  <a:pt x="0" y="0"/>
                </a:moveTo>
                <a:lnTo>
                  <a:pt x="3390434" y="0"/>
                </a:lnTo>
                <a:lnTo>
                  <a:pt x="3390434" y="2024542"/>
                </a:lnTo>
                <a:lnTo>
                  <a:pt x="0" y="2024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028700" y="1363562"/>
            <a:ext cx="947379" cy="1175009"/>
          </a:xfrm>
          <a:custGeom>
            <a:avLst/>
            <a:gdLst/>
            <a:ahLst/>
            <a:cxnLst/>
            <a:rect l="l" t="t" r="r" b="b"/>
            <a:pathLst>
              <a:path w="947379" h="1175009">
                <a:moveTo>
                  <a:pt x="0" y="0"/>
                </a:moveTo>
                <a:lnTo>
                  <a:pt x="947379" y="0"/>
                </a:lnTo>
                <a:lnTo>
                  <a:pt x="947379" y="1175009"/>
                </a:lnTo>
                <a:lnTo>
                  <a:pt x="0" y="11750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441367" y="2538571"/>
            <a:ext cx="947379" cy="1175009"/>
          </a:xfrm>
          <a:custGeom>
            <a:avLst/>
            <a:gdLst/>
            <a:ahLst/>
            <a:cxnLst/>
            <a:rect l="l" t="t" r="r" b="b"/>
            <a:pathLst>
              <a:path w="947379" h="1175009">
                <a:moveTo>
                  <a:pt x="0" y="0"/>
                </a:moveTo>
                <a:lnTo>
                  <a:pt x="947379" y="0"/>
                </a:lnTo>
                <a:lnTo>
                  <a:pt x="947379" y="1175009"/>
                </a:lnTo>
                <a:lnTo>
                  <a:pt x="0" y="11750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584960" y="1254638"/>
            <a:ext cx="15856407" cy="2415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64"/>
              </a:lnSpc>
              <a:spcBef>
                <a:spcPct val="0"/>
              </a:spcBef>
            </a:pPr>
            <a:r>
              <a:rPr lang="en-US" sz="6902" spc="1049" dirty="0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BIKE </a:t>
            </a:r>
            <a:r>
              <a:rPr lang="en-US" sz="6902" spc="1049" dirty="0" smtClean="0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SALES </a:t>
            </a:r>
            <a:r>
              <a:rPr lang="en-US" sz="6902" spc="1049" dirty="0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ANALYSIS DASHBOARD-INSIGHTS &amp; FINDINGS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316722" y="5921525"/>
            <a:ext cx="10269167" cy="961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531"/>
              </a:lnSpc>
              <a:spcBef>
                <a:spcPct val="0"/>
              </a:spcBef>
            </a:pPr>
            <a:r>
              <a:rPr lang="en-US" sz="5379" dirty="0">
                <a:solidFill>
                  <a:srgbClr val="000000"/>
                </a:solidFill>
                <a:latin typeface="Baloo"/>
                <a:ea typeface="Baloo"/>
                <a:cs typeface="Baloo"/>
                <a:sym typeface="Baloo"/>
              </a:rPr>
              <a:t>Prepared by : </a:t>
            </a:r>
            <a:r>
              <a:rPr lang="en-US" sz="5379" dirty="0" err="1" smtClean="0">
                <a:solidFill>
                  <a:srgbClr val="000000"/>
                </a:solidFill>
                <a:latin typeface="Baloo"/>
                <a:ea typeface="Baloo"/>
                <a:cs typeface="Baloo"/>
                <a:sym typeface="Baloo"/>
              </a:rPr>
              <a:t>Rajat</a:t>
            </a:r>
            <a:r>
              <a:rPr lang="en-US" sz="5379" dirty="0" smtClean="0">
                <a:solidFill>
                  <a:srgbClr val="000000"/>
                </a:solidFill>
                <a:latin typeface="Baloo"/>
                <a:ea typeface="Baloo"/>
                <a:cs typeface="Baloo"/>
                <a:sym typeface="Baloo"/>
              </a:rPr>
              <a:t> Potgantiwar</a:t>
            </a:r>
            <a:endParaRPr lang="en-US" sz="5379" dirty="0">
              <a:solidFill>
                <a:srgbClr val="000000"/>
              </a:solidFill>
              <a:latin typeface="Baloo"/>
              <a:ea typeface="Baloo"/>
              <a:cs typeface="Baloo"/>
              <a:sym typeface="Balo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6CC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07331" y="1018621"/>
            <a:ext cx="20830043" cy="2185296"/>
            <a:chOff x="0" y="0"/>
            <a:chExt cx="5115576" cy="53667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15577" cy="536679"/>
            </a:xfrm>
            <a:custGeom>
              <a:avLst/>
              <a:gdLst/>
              <a:ahLst/>
              <a:cxnLst/>
              <a:rect l="l" t="t" r="r" b="b"/>
              <a:pathLst>
                <a:path w="5115577" h="536679">
                  <a:moveTo>
                    <a:pt x="18955" y="0"/>
                  </a:moveTo>
                  <a:lnTo>
                    <a:pt x="5096621" y="0"/>
                  </a:lnTo>
                  <a:cubicBezTo>
                    <a:pt x="5101649" y="0"/>
                    <a:pt x="5106470" y="1997"/>
                    <a:pt x="5110025" y="5552"/>
                  </a:cubicBezTo>
                  <a:cubicBezTo>
                    <a:pt x="5113579" y="9107"/>
                    <a:pt x="5115577" y="13928"/>
                    <a:pt x="5115577" y="18955"/>
                  </a:cubicBezTo>
                  <a:lnTo>
                    <a:pt x="5115577" y="517724"/>
                  </a:lnTo>
                  <a:cubicBezTo>
                    <a:pt x="5115577" y="522751"/>
                    <a:pt x="5113579" y="527572"/>
                    <a:pt x="5110025" y="531127"/>
                  </a:cubicBezTo>
                  <a:cubicBezTo>
                    <a:pt x="5106470" y="534682"/>
                    <a:pt x="5101649" y="536679"/>
                    <a:pt x="5096621" y="536679"/>
                  </a:cubicBezTo>
                  <a:lnTo>
                    <a:pt x="18955" y="536679"/>
                  </a:lnTo>
                  <a:cubicBezTo>
                    <a:pt x="13928" y="536679"/>
                    <a:pt x="9107" y="534682"/>
                    <a:pt x="5552" y="531127"/>
                  </a:cubicBezTo>
                  <a:cubicBezTo>
                    <a:pt x="1997" y="527572"/>
                    <a:pt x="0" y="522751"/>
                    <a:pt x="0" y="517724"/>
                  </a:cubicBezTo>
                  <a:lnTo>
                    <a:pt x="0" y="18955"/>
                  </a:lnTo>
                  <a:cubicBezTo>
                    <a:pt x="0" y="13928"/>
                    <a:pt x="1997" y="9107"/>
                    <a:pt x="5552" y="5552"/>
                  </a:cubicBezTo>
                  <a:cubicBezTo>
                    <a:pt x="9107" y="1997"/>
                    <a:pt x="13928" y="0"/>
                    <a:pt x="18955" y="0"/>
                  </a:cubicBezTo>
                  <a:close/>
                </a:path>
              </a:pathLst>
            </a:custGeom>
            <a:solidFill>
              <a:srgbClr val="1D79CD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190500"/>
              <a:ext cx="5115576" cy="7271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24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222884" y="4225483"/>
            <a:ext cx="9848242" cy="5625197"/>
            <a:chOff x="0" y="0"/>
            <a:chExt cx="3189355" cy="182172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189355" cy="1821721"/>
            </a:xfrm>
            <a:custGeom>
              <a:avLst/>
              <a:gdLst/>
              <a:ahLst/>
              <a:cxnLst/>
              <a:rect l="l" t="t" r="r" b="b"/>
              <a:pathLst>
                <a:path w="3189355" h="1821721">
                  <a:moveTo>
                    <a:pt x="40092" y="0"/>
                  </a:moveTo>
                  <a:lnTo>
                    <a:pt x="3149263" y="0"/>
                  </a:lnTo>
                  <a:cubicBezTo>
                    <a:pt x="3159896" y="0"/>
                    <a:pt x="3170094" y="4224"/>
                    <a:pt x="3177613" y="11743"/>
                  </a:cubicBezTo>
                  <a:cubicBezTo>
                    <a:pt x="3185131" y="19261"/>
                    <a:pt x="3189355" y="29459"/>
                    <a:pt x="3189355" y="40092"/>
                  </a:cubicBezTo>
                  <a:lnTo>
                    <a:pt x="3189355" y="1781629"/>
                  </a:lnTo>
                  <a:cubicBezTo>
                    <a:pt x="3189355" y="1792262"/>
                    <a:pt x="3185131" y="1802460"/>
                    <a:pt x="3177613" y="1809979"/>
                  </a:cubicBezTo>
                  <a:cubicBezTo>
                    <a:pt x="3170094" y="1817497"/>
                    <a:pt x="3159896" y="1821721"/>
                    <a:pt x="3149263" y="1821721"/>
                  </a:cubicBezTo>
                  <a:lnTo>
                    <a:pt x="40092" y="1821721"/>
                  </a:lnTo>
                  <a:cubicBezTo>
                    <a:pt x="29459" y="1821721"/>
                    <a:pt x="19261" y="1817497"/>
                    <a:pt x="11743" y="1809979"/>
                  </a:cubicBezTo>
                  <a:cubicBezTo>
                    <a:pt x="4224" y="1802460"/>
                    <a:pt x="0" y="1792262"/>
                    <a:pt x="0" y="1781629"/>
                  </a:cubicBezTo>
                  <a:lnTo>
                    <a:pt x="0" y="40092"/>
                  </a:lnTo>
                  <a:cubicBezTo>
                    <a:pt x="0" y="29459"/>
                    <a:pt x="4224" y="19261"/>
                    <a:pt x="11743" y="11743"/>
                  </a:cubicBezTo>
                  <a:cubicBezTo>
                    <a:pt x="19261" y="4224"/>
                    <a:pt x="29459" y="0"/>
                    <a:pt x="40092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3189355" cy="1888396"/>
            </a:xfrm>
            <a:prstGeom prst="rect">
              <a:avLst/>
            </a:prstGeom>
          </p:spPr>
          <p:txBody>
            <a:bodyPr lIns="38523" tIns="38523" rIns="38523" bIns="38523" rtlCol="0" anchor="ctr"/>
            <a:lstStyle/>
            <a:p>
              <a:pPr algn="l">
                <a:lnSpc>
                  <a:spcPts val="461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061380" y="4225483"/>
            <a:ext cx="4897443" cy="5625197"/>
            <a:chOff x="0" y="0"/>
            <a:chExt cx="1586038" cy="182172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86038" cy="1821721"/>
            </a:xfrm>
            <a:custGeom>
              <a:avLst/>
              <a:gdLst/>
              <a:ahLst/>
              <a:cxnLst/>
              <a:rect l="l" t="t" r="r" b="b"/>
              <a:pathLst>
                <a:path w="1586038" h="1821721">
                  <a:moveTo>
                    <a:pt x="80621" y="0"/>
                  </a:moveTo>
                  <a:lnTo>
                    <a:pt x="1505417" y="0"/>
                  </a:lnTo>
                  <a:cubicBezTo>
                    <a:pt x="1526799" y="0"/>
                    <a:pt x="1547305" y="8494"/>
                    <a:pt x="1562424" y="23613"/>
                  </a:cubicBezTo>
                  <a:cubicBezTo>
                    <a:pt x="1577544" y="38733"/>
                    <a:pt x="1586038" y="59239"/>
                    <a:pt x="1586038" y="80621"/>
                  </a:cubicBezTo>
                  <a:lnTo>
                    <a:pt x="1586038" y="1741100"/>
                  </a:lnTo>
                  <a:cubicBezTo>
                    <a:pt x="1586038" y="1762482"/>
                    <a:pt x="1577544" y="1782988"/>
                    <a:pt x="1562424" y="1798108"/>
                  </a:cubicBezTo>
                  <a:cubicBezTo>
                    <a:pt x="1547305" y="1813227"/>
                    <a:pt x="1526799" y="1821721"/>
                    <a:pt x="1505417" y="1821721"/>
                  </a:cubicBezTo>
                  <a:lnTo>
                    <a:pt x="80621" y="1821721"/>
                  </a:lnTo>
                  <a:cubicBezTo>
                    <a:pt x="59239" y="1821721"/>
                    <a:pt x="38733" y="1813227"/>
                    <a:pt x="23613" y="1798108"/>
                  </a:cubicBezTo>
                  <a:cubicBezTo>
                    <a:pt x="8494" y="1782988"/>
                    <a:pt x="0" y="1762482"/>
                    <a:pt x="0" y="1741100"/>
                  </a:cubicBezTo>
                  <a:lnTo>
                    <a:pt x="0" y="80621"/>
                  </a:lnTo>
                  <a:cubicBezTo>
                    <a:pt x="0" y="59239"/>
                    <a:pt x="8494" y="38733"/>
                    <a:pt x="23613" y="23613"/>
                  </a:cubicBezTo>
                  <a:cubicBezTo>
                    <a:pt x="38733" y="8494"/>
                    <a:pt x="59239" y="0"/>
                    <a:pt x="8062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1586038" cy="1888396"/>
            </a:xfrm>
            <a:prstGeom prst="rect">
              <a:avLst/>
            </a:prstGeom>
          </p:spPr>
          <p:txBody>
            <a:bodyPr lIns="38523" tIns="38523" rIns="38523" bIns="38523" rtlCol="0" anchor="ctr"/>
            <a:lstStyle/>
            <a:p>
              <a:pPr algn="l">
                <a:lnSpc>
                  <a:spcPts val="461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3340873" y="4604327"/>
            <a:ext cx="2694171" cy="3876505"/>
          </a:xfrm>
          <a:custGeom>
            <a:avLst/>
            <a:gdLst/>
            <a:ahLst/>
            <a:cxnLst/>
            <a:rect l="l" t="t" r="r" b="b"/>
            <a:pathLst>
              <a:path w="2694171" h="3876505">
                <a:moveTo>
                  <a:pt x="0" y="0"/>
                </a:moveTo>
                <a:lnTo>
                  <a:pt x="2694171" y="0"/>
                </a:lnTo>
                <a:lnTo>
                  <a:pt x="2694171" y="3876504"/>
                </a:lnTo>
                <a:lnTo>
                  <a:pt x="0" y="38765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2393494" y="1478995"/>
            <a:ext cx="947379" cy="1175009"/>
          </a:xfrm>
          <a:custGeom>
            <a:avLst/>
            <a:gdLst/>
            <a:ahLst/>
            <a:cxnLst/>
            <a:rect l="l" t="t" r="r" b="b"/>
            <a:pathLst>
              <a:path w="947379" h="1175009">
                <a:moveTo>
                  <a:pt x="0" y="0"/>
                </a:moveTo>
                <a:lnTo>
                  <a:pt x="947379" y="0"/>
                </a:lnTo>
                <a:lnTo>
                  <a:pt x="947379" y="1175009"/>
                </a:lnTo>
                <a:lnTo>
                  <a:pt x="0" y="11750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3340873" y="1152419"/>
            <a:ext cx="13376994" cy="1628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60"/>
              </a:lnSpc>
              <a:spcBef>
                <a:spcPct val="0"/>
              </a:spcBef>
            </a:pPr>
            <a:r>
              <a:rPr lang="en-US" sz="9400" spc="1428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EXECUTIVE SUMMARY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688943" y="4765188"/>
            <a:ext cx="8861640" cy="4781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3174" lvl="1" indent="-366587" algn="l">
              <a:lnSpc>
                <a:spcPts val="4754"/>
              </a:lnSpc>
              <a:buFont typeface="Arial"/>
              <a:buChar char="•"/>
            </a:pPr>
            <a:r>
              <a:rPr lang="en-US" sz="33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Built an interactive Excel dashboard with slicers, KPIs, and dynamic charts</a:t>
            </a:r>
          </a:p>
          <a:p>
            <a:pPr marL="733174" lvl="1" indent="-366587" algn="l">
              <a:lnSpc>
                <a:spcPts val="4754"/>
              </a:lnSpc>
              <a:buFont typeface="Arial"/>
              <a:buChar char="•"/>
            </a:pPr>
            <a:r>
              <a:rPr lang="en-US" sz="33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Analyzed customer demographics, behavior, and regional performance</a:t>
            </a:r>
          </a:p>
          <a:p>
            <a:pPr marL="733174" lvl="1" indent="-366587" algn="l">
              <a:lnSpc>
                <a:spcPts val="4754"/>
              </a:lnSpc>
              <a:buFont typeface="Arial"/>
              <a:buChar char="•"/>
            </a:pPr>
            <a:r>
              <a:rPr lang="en-US" sz="33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Identified key buying patterns and conversion trends</a:t>
            </a:r>
          </a:p>
          <a:p>
            <a:pPr marL="733174" lvl="1" indent="-366587" algn="l">
              <a:lnSpc>
                <a:spcPts val="4754"/>
              </a:lnSpc>
              <a:buFont typeface="Arial"/>
              <a:buChar char="•"/>
            </a:pPr>
            <a:r>
              <a:rPr lang="en-US" sz="33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Extracted insights to support data-driven business decisions.</a:t>
            </a:r>
          </a:p>
        </p:txBody>
      </p:sp>
      <p:sp>
        <p:nvSpPr>
          <p:cNvPr id="15" name="Freeform 15"/>
          <p:cNvSpPr/>
          <p:nvPr/>
        </p:nvSpPr>
        <p:spPr>
          <a:xfrm>
            <a:off x="16597437" y="1352444"/>
            <a:ext cx="947379" cy="1175009"/>
          </a:xfrm>
          <a:custGeom>
            <a:avLst/>
            <a:gdLst/>
            <a:ahLst/>
            <a:cxnLst/>
            <a:rect l="l" t="t" r="r" b="b"/>
            <a:pathLst>
              <a:path w="947379" h="1175009">
                <a:moveTo>
                  <a:pt x="0" y="0"/>
                </a:moveTo>
                <a:lnTo>
                  <a:pt x="947379" y="0"/>
                </a:lnTo>
                <a:lnTo>
                  <a:pt x="947379" y="1175009"/>
                </a:lnTo>
                <a:lnTo>
                  <a:pt x="0" y="11750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6CC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07331" y="1018621"/>
            <a:ext cx="20830043" cy="2185296"/>
            <a:chOff x="0" y="0"/>
            <a:chExt cx="5115576" cy="53667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15577" cy="536679"/>
            </a:xfrm>
            <a:custGeom>
              <a:avLst/>
              <a:gdLst/>
              <a:ahLst/>
              <a:cxnLst/>
              <a:rect l="l" t="t" r="r" b="b"/>
              <a:pathLst>
                <a:path w="5115577" h="536679">
                  <a:moveTo>
                    <a:pt x="18955" y="0"/>
                  </a:moveTo>
                  <a:lnTo>
                    <a:pt x="5096621" y="0"/>
                  </a:lnTo>
                  <a:cubicBezTo>
                    <a:pt x="5101649" y="0"/>
                    <a:pt x="5106470" y="1997"/>
                    <a:pt x="5110025" y="5552"/>
                  </a:cubicBezTo>
                  <a:cubicBezTo>
                    <a:pt x="5113579" y="9107"/>
                    <a:pt x="5115577" y="13928"/>
                    <a:pt x="5115577" y="18955"/>
                  </a:cubicBezTo>
                  <a:lnTo>
                    <a:pt x="5115577" y="517724"/>
                  </a:lnTo>
                  <a:cubicBezTo>
                    <a:pt x="5115577" y="522751"/>
                    <a:pt x="5113579" y="527572"/>
                    <a:pt x="5110025" y="531127"/>
                  </a:cubicBezTo>
                  <a:cubicBezTo>
                    <a:pt x="5106470" y="534682"/>
                    <a:pt x="5101649" y="536679"/>
                    <a:pt x="5096621" y="536679"/>
                  </a:cubicBezTo>
                  <a:lnTo>
                    <a:pt x="18955" y="536679"/>
                  </a:lnTo>
                  <a:cubicBezTo>
                    <a:pt x="13928" y="536679"/>
                    <a:pt x="9107" y="534682"/>
                    <a:pt x="5552" y="531127"/>
                  </a:cubicBezTo>
                  <a:cubicBezTo>
                    <a:pt x="1997" y="527572"/>
                    <a:pt x="0" y="522751"/>
                    <a:pt x="0" y="517724"/>
                  </a:cubicBezTo>
                  <a:lnTo>
                    <a:pt x="0" y="18955"/>
                  </a:lnTo>
                  <a:cubicBezTo>
                    <a:pt x="0" y="13928"/>
                    <a:pt x="1997" y="9107"/>
                    <a:pt x="5552" y="5552"/>
                  </a:cubicBezTo>
                  <a:cubicBezTo>
                    <a:pt x="9107" y="1997"/>
                    <a:pt x="13928" y="0"/>
                    <a:pt x="18955" y="0"/>
                  </a:cubicBezTo>
                  <a:close/>
                </a:path>
              </a:pathLst>
            </a:custGeom>
            <a:solidFill>
              <a:srgbClr val="1D79CD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190500"/>
              <a:ext cx="5115576" cy="7271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24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222884" y="4225483"/>
            <a:ext cx="9848242" cy="5625197"/>
            <a:chOff x="0" y="0"/>
            <a:chExt cx="3189355" cy="182172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189355" cy="1821721"/>
            </a:xfrm>
            <a:custGeom>
              <a:avLst/>
              <a:gdLst/>
              <a:ahLst/>
              <a:cxnLst/>
              <a:rect l="l" t="t" r="r" b="b"/>
              <a:pathLst>
                <a:path w="3189355" h="1821721">
                  <a:moveTo>
                    <a:pt x="40092" y="0"/>
                  </a:moveTo>
                  <a:lnTo>
                    <a:pt x="3149263" y="0"/>
                  </a:lnTo>
                  <a:cubicBezTo>
                    <a:pt x="3159896" y="0"/>
                    <a:pt x="3170094" y="4224"/>
                    <a:pt x="3177613" y="11743"/>
                  </a:cubicBezTo>
                  <a:cubicBezTo>
                    <a:pt x="3185131" y="19261"/>
                    <a:pt x="3189355" y="29459"/>
                    <a:pt x="3189355" y="40092"/>
                  </a:cubicBezTo>
                  <a:lnTo>
                    <a:pt x="3189355" y="1781629"/>
                  </a:lnTo>
                  <a:cubicBezTo>
                    <a:pt x="3189355" y="1792262"/>
                    <a:pt x="3185131" y="1802460"/>
                    <a:pt x="3177613" y="1809979"/>
                  </a:cubicBezTo>
                  <a:cubicBezTo>
                    <a:pt x="3170094" y="1817497"/>
                    <a:pt x="3159896" y="1821721"/>
                    <a:pt x="3149263" y="1821721"/>
                  </a:cubicBezTo>
                  <a:lnTo>
                    <a:pt x="40092" y="1821721"/>
                  </a:lnTo>
                  <a:cubicBezTo>
                    <a:pt x="29459" y="1821721"/>
                    <a:pt x="19261" y="1817497"/>
                    <a:pt x="11743" y="1809979"/>
                  </a:cubicBezTo>
                  <a:cubicBezTo>
                    <a:pt x="4224" y="1802460"/>
                    <a:pt x="0" y="1792262"/>
                    <a:pt x="0" y="1781629"/>
                  </a:cubicBezTo>
                  <a:lnTo>
                    <a:pt x="0" y="40092"/>
                  </a:lnTo>
                  <a:cubicBezTo>
                    <a:pt x="0" y="29459"/>
                    <a:pt x="4224" y="19261"/>
                    <a:pt x="11743" y="11743"/>
                  </a:cubicBezTo>
                  <a:cubicBezTo>
                    <a:pt x="19261" y="4224"/>
                    <a:pt x="29459" y="0"/>
                    <a:pt x="40092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3189355" cy="1888396"/>
            </a:xfrm>
            <a:prstGeom prst="rect">
              <a:avLst/>
            </a:prstGeom>
          </p:spPr>
          <p:txBody>
            <a:bodyPr lIns="38523" tIns="38523" rIns="38523" bIns="38523" rtlCol="0" anchor="ctr"/>
            <a:lstStyle/>
            <a:p>
              <a:pPr algn="l">
                <a:lnSpc>
                  <a:spcPts val="461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061380" y="4225483"/>
            <a:ext cx="4897443" cy="5625197"/>
            <a:chOff x="0" y="0"/>
            <a:chExt cx="1586038" cy="182172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86038" cy="1821721"/>
            </a:xfrm>
            <a:custGeom>
              <a:avLst/>
              <a:gdLst/>
              <a:ahLst/>
              <a:cxnLst/>
              <a:rect l="l" t="t" r="r" b="b"/>
              <a:pathLst>
                <a:path w="1586038" h="1821721">
                  <a:moveTo>
                    <a:pt x="80621" y="0"/>
                  </a:moveTo>
                  <a:lnTo>
                    <a:pt x="1505417" y="0"/>
                  </a:lnTo>
                  <a:cubicBezTo>
                    <a:pt x="1526799" y="0"/>
                    <a:pt x="1547305" y="8494"/>
                    <a:pt x="1562424" y="23613"/>
                  </a:cubicBezTo>
                  <a:cubicBezTo>
                    <a:pt x="1577544" y="38733"/>
                    <a:pt x="1586038" y="59239"/>
                    <a:pt x="1586038" y="80621"/>
                  </a:cubicBezTo>
                  <a:lnTo>
                    <a:pt x="1586038" y="1741100"/>
                  </a:lnTo>
                  <a:cubicBezTo>
                    <a:pt x="1586038" y="1762482"/>
                    <a:pt x="1577544" y="1782988"/>
                    <a:pt x="1562424" y="1798108"/>
                  </a:cubicBezTo>
                  <a:cubicBezTo>
                    <a:pt x="1547305" y="1813227"/>
                    <a:pt x="1526799" y="1821721"/>
                    <a:pt x="1505417" y="1821721"/>
                  </a:cubicBezTo>
                  <a:lnTo>
                    <a:pt x="80621" y="1821721"/>
                  </a:lnTo>
                  <a:cubicBezTo>
                    <a:pt x="59239" y="1821721"/>
                    <a:pt x="38733" y="1813227"/>
                    <a:pt x="23613" y="1798108"/>
                  </a:cubicBezTo>
                  <a:cubicBezTo>
                    <a:pt x="8494" y="1782988"/>
                    <a:pt x="0" y="1762482"/>
                    <a:pt x="0" y="1741100"/>
                  </a:cubicBezTo>
                  <a:lnTo>
                    <a:pt x="0" y="80621"/>
                  </a:lnTo>
                  <a:cubicBezTo>
                    <a:pt x="0" y="59239"/>
                    <a:pt x="8494" y="38733"/>
                    <a:pt x="23613" y="23613"/>
                  </a:cubicBezTo>
                  <a:cubicBezTo>
                    <a:pt x="38733" y="8494"/>
                    <a:pt x="59239" y="0"/>
                    <a:pt x="8062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1586038" cy="1888396"/>
            </a:xfrm>
            <a:prstGeom prst="rect">
              <a:avLst/>
            </a:prstGeom>
          </p:spPr>
          <p:txBody>
            <a:bodyPr lIns="38523" tIns="38523" rIns="38523" bIns="38523" rtlCol="0" anchor="ctr"/>
            <a:lstStyle/>
            <a:p>
              <a:pPr algn="l">
                <a:lnSpc>
                  <a:spcPts val="461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3340873" y="4604327"/>
            <a:ext cx="2694171" cy="3876505"/>
          </a:xfrm>
          <a:custGeom>
            <a:avLst/>
            <a:gdLst/>
            <a:ahLst/>
            <a:cxnLst/>
            <a:rect l="l" t="t" r="r" b="b"/>
            <a:pathLst>
              <a:path w="2694171" h="3876505">
                <a:moveTo>
                  <a:pt x="0" y="0"/>
                </a:moveTo>
                <a:lnTo>
                  <a:pt x="2694171" y="0"/>
                </a:lnTo>
                <a:lnTo>
                  <a:pt x="2694171" y="3876504"/>
                </a:lnTo>
                <a:lnTo>
                  <a:pt x="0" y="38765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3340873" y="1152419"/>
            <a:ext cx="13376994" cy="1628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60"/>
              </a:lnSpc>
              <a:spcBef>
                <a:spcPct val="0"/>
              </a:spcBef>
            </a:pPr>
            <a:r>
              <a:rPr lang="en-US" sz="9400" spc="1428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BUSINESS PROBLEM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09558" y="4614234"/>
            <a:ext cx="8861640" cy="4180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3174" lvl="1" indent="-366587" algn="l">
              <a:lnSpc>
                <a:spcPts val="4754"/>
              </a:lnSpc>
              <a:buFont typeface="Arial"/>
              <a:buChar char="•"/>
            </a:pPr>
            <a:r>
              <a:rPr lang="en-US" sz="33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Identify which customers buy bikes.</a:t>
            </a:r>
          </a:p>
          <a:p>
            <a:pPr marL="733174" lvl="1" indent="-366587" algn="l">
              <a:lnSpc>
                <a:spcPts val="4754"/>
              </a:lnSpc>
              <a:buFont typeface="Arial"/>
              <a:buChar char="•"/>
            </a:pPr>
            <a:r>
              <a:rPr lang="en-US" sz="33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Understand influence of gender, age, income, and region.</a:t>
            </a:r>
          </a:p>
          <a:p>
            <a:pPr marL="733174" lvl="1" indent="-366587" algn="l">
              <a:lnSpc>
                <a:spcPts val="4754"/>
              </a:lnSpc>
              <a:buFont typeface="Arial"/>
              <a:buChar char="•"/>
            </a:pPr>
            <a:r>
              <a:rPr lang="en-US" sz="33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Analyze external factors like commute distance, marital status, children.</a:t>
            </a:r>
          </a:p>
          <a:p>
            <a:pPr marL="733174" lvl="1" indent="-366587" algn="l">
              <a:lnSpc>
                <a:spcPts val="4754"/>
              </a:lnSpc>
              <a:buFont typeface="Arial"/>
              <a:buChar char="•"/>
            </a:pPr>
            <a:r>
              <a:rPr lang="en-US" sz="33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Understand customer conversion rate.</a:t>
            </a:r>
          </a:p>
          <a:p>
            <a:pPr marL="733174" lvl="1" indent="-366587" algn="l">
              <a:lnSpc>
                <a:spcPts val="4754"/>
              </a:lnSpc>
              <a:buFont typeface="Arial"/>
              <a:buChar char="•"/>
            </a:pPr>
            <a:r>
              <a:rPr lang="en-US" sz="33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Help leadership with quick real-time insights.</a:t>
            </a:r>
          </a:p>
        </p:txBody>
      </p:sp>
      <p:sp>
        <p:nvSpPr>
          <p:cNvPr id="14" name="Freeform 14"/>
          <p:cNvSpPr/>
          <p:nvPr/>
        </p:nvSpPr>
        <p:spPr>
          <a:xfrm>
            <a:off x="2393494" y="1478995"/>
            <a:ext cx="947379" cy="1175009"/>
          </a:xfrm>
          <a:custGeom>
            <a:avLst/>
            <a:gdLst/>
            <a:ahLst/>
            <a:cxnLst/>
            <a:rect l="l" t="t" r="r" b="b"/>
            <a:pathLst>
              <a:path w="947379" h="1175009">
                <a:moveTo>
                  <a:pt x="0" y="0"/>
                </a:moveTo>
                <a:lnTo>
                  <a:pt x="947379" y="0"/>
                </a:lnTo>
                <a:lnTo>
                  <a:pt x="947379" y="1175009"/>
                </a:lnTo>
                <a:lnTo>
                  <a:pt x="0" y="11750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6371197" y="1605547"/>
            <a:ext cx="947379" cy="1175009"/>
          </a:xfrm>
          <a:custGeom>
            <a:avLst/>
            <a:gdLst/>
            <a:ahLst/>
            <a:cxnLst/>
            <a:rect l="l" t="t" r="r" b="b"/>
            <a:pathLst>
              <a:path w="947379" h="1175009">
                <a:moveTo>
                  <a:pt x="0" y="0"/>
                </a:moveTo>
                <a:lnTo>
                  <a:pt x="947380" y="0"/>
                </a:lnTo>
                <a:lnTo>
                  <a:pt x="947380" y="1175009"/>
                </a:lnTo>
                <a:lnTo>
                  <a:pt x="0" y="11750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6CC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07331" y="1018621"/>
            <a:ext cx="20830043" cy="2185296"/>
            <a:chOff x="0" y="0"/>
            <a:chExt cx="5115576" cy="53667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15577" cy="536679"/>
            </a:xfrm>
            <a:custGeom>
              <a:avLst/>
              <a:gdLst/>
              <a:ahLst/>
              <a:cxnLst/>
              <a:rect l="l" t="t" r="r" b="b"/>
              <a:pathLst>
                <a:path w="5115577" h="536679">
                  <a:moveTo>
                    <a:pt x="18955" y="0"/>
                  </a:moveTo>
                  <a:lnTo>
                    <a:pt x="5096621" y="0"/>
                  </a:lnTo>
                  <a:cubicBezTo>
                    <a:pt x="5101649" y="0"/>
                    <a:pt x="5106470" y="1997"/>
                    <a:pt x="5110025" y="5552"/>
                  </a:cubicBezTo>
                  <a:cubicBezTo>
                    <a:pt x="5113579" y="9107"/>
                    <a:pt x="5115577" y="13928"/>
                    <a:pt x="5115577" y="18955"/>
                  </a:cubicBezTo>
                  <a:lnTo>
                    <a:pt x="5115577" y="517724"/>
                  </a:lnTo>
                  <a:cubicBezTo>
                    <a:pt x="5115577" y="522751"/>
                    <a:pt x="5113579" y="527572"/>
                    <a:pt x="5110025" y="531127"/>
                  </a:cubicBezTo>
                  <a:cubicBezTo>
                    <a:pt x="5106470" y="534682"/>
                    <a:pt x="5101649" y="536679"/>
                    <a:pt x="5096621" y="536679"/>
                  </a:cubicBezTo>
                  <a:lnTo>
                    <a:pt x="18955" y="536679"/>
                  </a:lnTo>
                  <a:cubicBezTo>
                    <a:pt x="13928" y="536679"/>
                    <a:pt x="9107" y="534682"/>
                    <a:pt x="5552" y="531127"/>
                  </a:cubicBezTo>
                  <a:cubicBezTo>
                    <a:pt x="1997" y="527572"/>
                    <a:pt x="0" y="522751"/>
                    <a:pt x="0" y="517724"/>
                  </a:cubicBezTo>
                  <a:lnTo>
                    <a:pt x="0" y="18955"/>
                  </a:lnTo>
                  <a:cubicBezTo>
                    <a:pt x="0" y="13928"/>
                    <a:pt x="1997" y="9107"/>
                    <a:pt x="5552" y="5552"/>
                  </a:cubicBezTo>
                  <a:cubicBezTo>
                    <a:pt x="9107" y="1997"/>
                    <a:pt x="13928" y="0"/>
                    <a:pt x="18955" y="0"/>
                  </a:cubicBezTo>
                  <a:close/>
                </a:path>
              </a:pathLst>
            </a:custGeom>
            <a:solidFill>
              <a:srgbClr val="1D79CD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190500"/>
              <a:ext cx="5115576" cy="7271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24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772890" y="3656792"/>
            <a:ext cx="4998476" cy="939209"/>
            <a:chOff x="0" y="0"/>
            <a:chExt cx="1227558" cy="23065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27558" cy="230657"/>
            </a:xfrm>
            <a:custGeom>
              <a:avLst/>
              <a:gdLst/>
              <a:ahLst/>
              <a:cxnLst/>
              <a:rect l="l" t="t" r="r" b="b"/>
              <a:pathLst>
                <a:path w="1227558" h="230657">
                  <a:moveTo>
                    <a:pt x="78992" y="0"/>
                  </a:moveTo>
                  <a:lnTo>
                    <a:pt x="1148566" y="0"/>
                  </a:lnTo>
                  <a:cubicBezTo>
                    <a:pt x="1192192" y="0"/>
                    <a:pt x="1227558" y="35366"/>
                    <a:pt x="1227558" y="78992"/>
                  </a:cubicBezTo>
                  <a:lnTo>
                    <a:pt x="1227558" y="151665"/>
                  </a:lnTo>
                  <a:cubicBezTo>
                    <a:pt x="1227558" y="172615"/>
                    <a:pt x="1219236" y="192707"/>
                    <a:pt x="1204422" y="207521"/>
                  </a:cubicBezTo>
                  <a:cubicBezTo>
                    <a:pt x="1189608" y="222335"/>
                    <a:pt x="1169516" y="230657"/>
                    <a:pt x="1148566" y="230657"/>
                  </a:cubicBezTo>
                  <a:lnTo>
                    <a:pt x="78992" y="230657"/>
                  </a:lnTo>
                  <a:cubicBezTo>
                    <a:pt x="58042" y="230657"/>
                    <a:pt x="37950" y="222335"/>
                    <a:pt x="23136" y="207521"/>
                  </a:cubicBezTo>
                  <a:cubicBezTo>
                    <a:pt x="8322" y="192707"/>
                    <a:pt x="0" y="172615"/>
                    <a:pt x="0" y="151665"/>
                  </a:cubicBezTo>
                  <a:lnTo>
                    <a:pt x="0" y="78992"/>
                  </a:lnTo>
                  <a:cubicBezTo>
                    <a:pt x="0" y="58042"/>
                    <a:pt x="8322" y="37950"/>
                    <a:pt x="23136" y="23136"/>
                  </a:cubicBezTo>
                  <a:cubicBezTo>
                    <a:pt x="37950" y="8322"/>
                    <a:pt x="58042" y="0"/>
                    <a:pt x="78992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85725"/>
              <a:ext cx="1227558" cy="3163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906767" lvl="1" indent="-453384" algn="ctr">
                <a:lnSpc>
                  <a:spcPts val="5879"/>
                </a:lnSpc>
                <a:buAutoNum type="arabicPeriod"/>
              </a:pPr>
              <a:r>
                <a:rPr lang="en-US" sz="4199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Data Cleaning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809199" y="5143500"/>
            <a:ext cx="4962166" cy="939209"/>
            <a:chOff x="0" y="0"/>
            <a:chExt cx="1218641" cy="23065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18641" cy="230657"/>
            </a:xfrm>
            <a:custGeom>
              <a:avLst/>
              <a:gdLst/>
              <a:ahLst/>
              <a:cxnLst/>
              <a:rect l="l" t="t" r="r" b="b"/>
              <a:pathLst>
                <a:path w="1218641" h="230657">
                  <a:moveTo>
                    <a:pt x="79570" y="0"/>
                  </a:moveTo>
                  <a:lnTo>
                    <a:pt x="1139071" y="0"/>
                  </a:lnTo>
                  <a:cubicBezTo>
                    <a:pt x="1183016" y="0"/>
                    <a:pt x="1218641" y="35625"/>
                    <a:pt x="1218641" y="79570"/>
                  </a:cubicBezTo>
                  <a:lnTo>
                    <a:pt x="1218641" y="151087"/>
                  </a:lnTo>
                  <a:cubicBezTo>
                    <a:pt x="1218641" y="195032"/>
                    <a:pt x="1183016" y="230657"/>
                    <a:pt x="1139071" y="230657"/>
                  </a:cubicBezTo>
                  <a:lnTo>
                    <a:pt x="79570" y="230657"/>
                  </a:lnTo>
                  <a:cubicBezTo>
                    <a:pt x="35625" y="230657"/>
                    <a:pt x="0" y="195032"/>
                    <a:pt x="0" y="151087"/>
                  </a:cubicBezTo>
                  <a:lnTo>
                    <a:pt x="0" y="79570"/>
                  </a:lnTo>
                  <a:cubicBezTo>
                    <a:pt x="0" y="35625"/>
                    <a:pt x="35625" y="0"/>
                    <a:pt x="79570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85725"/>
              <a:ext cx="1218641" cy="3163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906767" lvl="1" indent="-453384" algn="ctr">
                <a:lnSpc>
                  <a:spcPts val="5879"/>
                </a:lnSpc>
                <a:buAutoNum type="arabicPeriod"/>
              </a:pPr>
              <a:r>
                <a:rPr lang="en-US" sz="4199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Data Processing 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772890" y="6768509"/>
            <a:ext cx="4998476" cy="939209"/>
            <a:chOff x="0" y="0"/>
            <a:chExt cx="1227558" cy="23065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27558" cy="230657"/>
            </a:xfrm>
            <a:custGeom>
              <a:avLst/>
              <a:gdLst/>
              <a:ahLst/>
              <a:cxnLst/>
              <a:rect l="l" t="t" r="r" b="b"/>
              <a:pathLst>
                <a:path w="1227558" h="230657">
                  <a:moveTo>
                    <a:pt x="78992" y="0"/>
                  </a:moveTo>
                  <a:lnTo>
                    <a:pt x="1148566" y="0"/>
                  </a:lnTo>
                  <a:cubicBezTo>
                    <a:pt x="1192192" y="0"/>
                    <a:pt x="1227558" y="35366"/>
                    <a:pt x="1227558" y="78992"/>
                  </a:cubicBezTo>
                  <a:lnTo>
                    <a:pt x="1227558" y="151665"/>
                  </a:lnTo>
                  <a:cubicBezTo>
                    <a:pt x="1227558" y="172615"/>
                    <a:pt x="1219236" y="192707"/>
                    <a:pt x="1204422" y="207521"/>
                  </a:cubicBezTo>
                  <a:cubicBezTo>
                    <a:pt x="1189608" y="222335"/>
                    <a:pt x="1169516" y="230657"/>
                    <a:pt x="1148566" y="230657"/>
                  </a:cubicBezTo>
                  <a:lnTo>
                    <a:pt x="78992" y="230657"/>
                  </a:lnTo>
                  <a:cubicBezTo>
                    <a:pt x="58042" y="230657"/>
                    <a:pt x="37950" y="222335"/>
                    <a:pt x="23136" y="207521"/>
                  </a:cubicBezTo>
                  <a:cubicBezTo>
                    <a:pt x="8322" y="192707"/>
                    <a:pt x="0" y="172615"/>
                    <a:pt x="0" y="151665"/>
                  </a:cubicBezTo>
                  <a:lnTo>
                    <a:pt x="0" y="78992"/>
                  </a:lnTo>
                  <a:cubicBezTo>
                    <a:pt x="0" y="58042"/>
                    <a:pt x="8322" y="37950"/>
                    <a:pt x="23136" y="23136"/>
                  </a:cubicBezTo>
                  <a:cubicBezTo>
                    <a:pt x="37950" y="8322"/>
                    <a:pt x="58042" y="0"/>
                    <a:pt x="78992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85725"/>
              <a:ext cx="1227558" cy="3163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906767" lvl="1" indent="-453384" algn="ctr">
                <a:lnSpc>
                  <a:spcPts val="5879"/>
                </a:lnSpc>
                <a:buAutoNum type="arabicPeriod"/>
              </a:pPr>
              <a:r>
                <a:rPr lang="en-US" sz="4199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Data Analysis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772890" y="8393518"/>
            <a:ext cx="4998476" cy="939209"/>
            <a:chOff x="0" y="0"/>
            <a:chExt cx="1227558" cy="23065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27558" cy="230657"/>
            </a:xfrm>
            <a:custGeom>
              <a:avLst/>
              <a:gdLst/>
              <a:ahLst/>
              <a:cxnLst/>
              <a:rect l="l" t="t" r="r" b="b"/>
              <a:pathLst>
                <a:path w="1227558" h="230657">
                  <a:moveTo>
                    <a:pt x="78992" y="0"/>
                  </a:moveTo>
                  <a:lnTo>
                    <a:pt x="1148566" y="0"/>
                  </a:lnTo>
                  <a:cubicBezTo>
                    <a:pt x="1192192" y="0"/>
                    <a:pt x="1227558" y="35366"/>
                    <a:pt x="1227558" y="78992"/>
                  </a:cubicBezTo>
                  <a:lnTo>
                    <a:pt x="1227558" y="151665"/>
                  </a:lnTo>
                  <a:cubicBezTo>
                    <a:pt x="1227558" y="172615"/>
                    <a:pt x="1219236" y="192707"/>
                    <a:pt x="1204422" y="207521"/>
                  </a:cubicBezTo>
                  <a:cubicBezTo>
                    <a:pt x="1189608" y="222335"/>
                    <a:pt x="1169516" y="230657"/>
                    <a:pt x="1148566" y="230657"/>
                  </a:cubicBezTo>
                  <a:lnTo>
                    <a:pt x="78992" y="230657"/>
                  </a:lnTo>
                  <a:cubicBezTo>
                    <a:pt x="58042" y="230657"/>
                    <a:pt x="37950" y="222335"/>
                    <a:pt x="23136" y="207521"/>
                  </a:cubicBezTo>
                  <a:cubicBezTo>
                    <a:pt x="8322" y="192707"/>
                    <a:pt x="0" y="172615"/>
                    <a:pt x="0" y="151665"/>
                  </a:cubicBezTo>
                  <a:lnTo>
                    <a:pt x="0" y="78992"/>
                  </a:lnTo>
                  <a:cubicBezTo>
                    <a:pt x="0" y="58042"/>
                    <a:pt x="8322" y="37950"/>
                    <a:pt x="23136" y="23136"/>
                  </a:cubicBezTo>
                  <a:cubicBezTo>
                    <a:pt x="37950" y="8322"/>
                    <a:pt x="58042" y="0"/>
                    <a:pt x="78992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85725"/>
              <a:ext cx="1227558" cy="3163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906767" lvl="1" indent="-453384" algn="ctr">
                <a:lnSpc>
                  <a:spcPts val="5879"/>
                </a:lnSpc>
                <a:buAutoNum type="arabicPeriod"/>
              </a:pPr>
              <a:r>
                <a:rPr lang="en-US" sz="4199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Data Visualization 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4349462" y="1476717"/>
            <a:ext cx="10187029" cy="1727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 spc="1519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METHODOLOGY</a:t>
            </a:r>
          </a:p>
        </p:txBody>
      </p:sp>
      <p:sp>
        <p:nvSpPr>
          <p:cNvPr id="18" name="Freeform 18"/>
          <p:cNvSpPr/>
          <p:nvPr/>
        </p:nvSpPr>
        <p:spPr>
          <a:xfrm>
            <a:off x="2393494" y="1478995"/>
            <a:ext cx="947379" cy="1175009"/>
          </a:xfrm>
          <a:custGeom>
            <a:avLst/>
            <a:gdLst/>
            <a:ahLst/>
            <a:cxnLst/>
            <a:rect l="l" t="t" r="r" b="b"/>
            <a:pathLst>
              <a:path w="947379" h="1175009">
                <a:moveTo>
                  <a:pt x="0" y="0"/>
                </a:moveTo>
                <a:lnTo>
                  <a:pt x="947379" y="0"/>
                </a:lnTo>
                <a:lnTo>
                  <a:pt x="947379" y="1175009"/>
                </a:lnTo>
                <a:lnTo>
                  <a:pt x="0" y="11750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5204485" y="1686267"/>
            <a:ext cx="947379" cy="1175009"/>
          </a:xfrm>
          <a:custGeom>
            <a:avLst/>
            <a:gdLst/>
            <a:ahLst/>
            <a:cxnLst/>
            <a:rect l="l" t="t" r="r" b="b"/>
            <a:pathLst>
              <a:path w="947379" h="1175009">
                <a:moveTo>
                  <a:pt x="0" y="0"/>
                </a:moveTo>
                <a:lnTo>
                  <a:pt x="947379" y="0"/>
                </a:lnTo>
                <a:lnTo>
                  <a:pt x="947379" y="1175009"/>
                </a:lnTo>
                <a:lnTo>
                  <a:pt x="0" y="11750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B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07331" y="1018621"/>
            <a:ext cx="20830043" cy="2654900"/>
            <a:chOff x="0" y="0"/>
            <a:chExt cx="5115576" cy="6520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15577" cy="652008"/>
            </a:xfrm>
            <a:custGeom>
              <a:avLst/>
              <a:gdLst/>
              <a:ahLst/>
              <a:cxnLst/>
              <a:rect l="l" t="t" r="r" b="b"/>
              <a:pathLst>
                <a:path w="5115577" h="652008">
                  <a:moveTo>
                    <a:pt x="18955" y="0"/>
                  </a:moveTo>
                  <a:lnTo>
                    <a:pt x="5096621" y="0"/>
                  </a:lnTo>
                  <a:cubicBezTo>
                    <a:pt x="5101649" y="0"/>
                    <a:pt x="5106470" y="1997"/>
                    <a:pt x="5110025" y="5552"/>
                  </a:cubicBezTo>
                  <a:cubicBezTo>
                    <a:pt x="5113579" y="9107"/>
                    <a:pt x="5115577" y="13928"/>
                    <a:pt x="5115577" y="18955"/>
                  </a:cubicBezTo>
                  <a:lnTo>
                    <a:pt x="5115577" y="633052"/>
                  </a:lnTo>
                  <a:cubicBezTo>
                    <a:pt x="5115577" y="638080"/>
                    <a:pt x="5113579" y="642901"/>
                    <a:pt x="5110025" y="646456"/>
                  </a:cubicBezTo>
                  <a:cubicBezTo>
                    <a:pt x="5106470" y="650010"/>
                    <a:pt x="5101649" y="652008"/>
                    <a:pt x="5096621" y="652008"/>
                  </a:cubicBezTo>
                  <a:lnTo>
                    <a:pt x="18955" y="652008"/>
                  </a:lnTo>
                  <a:cubicBezTo>
                    <a:pt x="13928" y="652008"/>
                    <a:pt x="9107" y="650010"/>
                    <a:pt x="5552" y="646456"/>
                  </a:cubicBezTo>
                  <a:cubicBezTo>
                    <a:pt x="1997" y="642901"/>
                    <a:pt x="0" y="638080"/>
                    <a:pt x="0" y="633052"/>
                  </a:cubicBezTo>
                  <a:lnTo>
                    <a:pt x="0" y="18955"/>
                  </a:lnTo>
                  <a:cubicBezTo>
                    <a:pt x="0" y="13928"/>
                    <a:pt x="1997" y="9107"/>
                    <a:pt x="5552" y="5552"/>
                  </a:cubicBezTo>
                  <a:cubicBezTo>
                    <a:pt x="9107" y="1997"/>
                    <a:pt x="13928" y="0"/>
                    <a:pt x="18955" y="0"/>
                  </a:cubicBezTo>
                  <a:close/>
                </a:path>
              </a:pathLst>
            </a:custGeom>
            <a:solidFill>
              <a:srgbClr val="825FC8"/>
            </a:solidFill>
            <a:ln w="571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190500"/>
              <a:ext cx="5115576" cy="842508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124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612523" y="4762996"/>
            <a:ext cx="13880675" cy="4126879"/>
            <a:chOff x="0" y="0"/>
            <a:chExt cx="4495260" cy="133649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95259" cy="1336491"/>
            </a:xfrm>
            <a:custGeom>
              <a:avLst/>
              <a:gdLst/>
              <a:ahLst/>
              <a:cxnLst/>
              <a:rect l="l" t="t" r="r" b="b"/>
              <a:pathLst>
                <a:path w="4495259" h="1336491">
                  <a:moveTo>
                    <a:pt x="28445" y="0"/>
                  </a:moveTo>
                  <a:lnTo>
                    <a:pt x="4466814" y="0"/>
                  </a:lnTo>
                  <a:cubicBezTo>
                    <a:pt x="4474358" y="0"/>
                    <a:pt x="4481594" y="2997"/>
                    <a:pt x="4486928" y="8331"/>
                  </a:cubicBezTo>
                  <a:cubicBezTo>
                    <a:pt x="4492263" y="13666"/>
                    <a:pt x="4495259" y="20901"/>
                    <a:pt x="4495259" y="28445"/>
                  </a:cubicBezTo>
                  <a:lnTo>
                    <a:pt x="4495259" y="1308045"/>
                  </a:lnTo>
                  <a:cubicBezTo>
                    <a:pt x="4495259" y="1323755"/>
                    <a:pt x="4482524" y="1336491"/>
                    <a:pt x="4466814" y="1336491"/>
                  </a:cubicBezTo>
                  <a:lnTo>
                    <a:pt x="28445" y="1336491"/>
                  </a:lnTo>
                  <a:cubicBezTo>
                    <a:pt x="20901" y="1336491"/>
                    <a:pt x="13666" y="1333494"/>
                    <a:pt x="8331" y="1328159"/>
                  </a:cubicBezTo>
                  <a:cubicBezTo>
                    <a:pt x="2997" y="1322825"/>
                    <a:pt x="0" y="1315590"/>
                    <a:pt x="0" y="1308045"/>
                  </a:cubicBezTo>
                  <a:lnTo>
                    <a:pt x="0" y="28445"/>
                  </a:lnTo>
                  <a:cubicBezTo>
                    <a:pt x="0" y="20901"/>
                    <a:pt x="2997" y="13666"/>
                    <a:pt x="8331" y="8331"/>
                  </a:cubicBezTo>
                  <a:cubicBezTo>
                    <a:pt x="13666" y="2997"/>
                    <a:pt x="20901" y="0"/>
                    <a:pt x="28445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4495260" cy="1403166"/>
            </a:xfrm>
            <a:prstGeom prst="rect">
              <a:avLst/>
            </a:prstGeom>
          </p:spPr>
          <p:txBody>
            <a:bodyPr lIns="38523" tIns="38523" rIns="38523" bIns="38523" rtlCol="0" anchor="ctr"/>
            <a:lstStyle/>
            <a:p>
              <a:pPr algn="l">
                <a:lnSpc>
                  <a:spcPts val="461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546198" y="1587246"/>
            <a:ext cx="1589320" cy="1831524"/>
          </a:xfrm>
          <a:custGeom>
            <a:avLst/>
            <a:gdLst/>
            <a:ahLst/>
            <a:cxnLst/>
            <a:rect l="l" t="t" r="r" b="b"/>
            <a:pathLst>
              <a:path w="1589320" h="1831524">
                <a:moveTo>
                  <a:pt x="0" y="0"/>
                </a:moveTo>
                <a:lnTo>
                  <a:pt x="1589320" y="0"/>
                </a:lnTo>
                <a:lnTo>
                  <a:pt x="1589320" y="1831525"/>
                </a:lnTo>
                <a:lnTo>
                  <a:pt x="0" y="18315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546198" y="1396746"/>
            <a:ext cx="16701872" cy="1602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20"/>
              </a:lnSpc>
              <a:spcBef>
                <a:spcPct val="0"/>
              </a:spcBef>
            </a:pPr>
            <a:r>
              <a:rPr lang="en-US" sz="9300" spc="1413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KPI CARDS OVERVIEW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573558" y="5274126"/>
            <a:ext cx="11619707" cy="3107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49068" lvl="1" indent="-474534" algn="l">
              <a:lnSpc>
                <a:spcPts val="6154"/>
              </a:lnSpc>
              <a:buFont typeface="Arial"/>
              <a:buChar char="•"/>
            </a:pPr>
            <a:r>
              <a:rPr lang="en-US" sz="43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Total Customers:</a:t>
            </a:r>
            <a:r>
              <a:rPr lang="en-US" sz="4395" b="1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 1026</a:t>
            </a:r>
          </a:p>
          <a:p>
            <a:pPr marL="949068" lvl="1" indent="-474534" algn="l">
              <a:lnSpc>
                <a:spcPts val="6154"/>
              </a:lnSpc>
              <a:buFont typeface="Arial"/>
              <a:buChar char="•"/>
            </a:pPr>
            <a:r>
              <a:rPr lang="en-US" sz="43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Total Buyers: </a:t>
            </a:r>
            <a:r>
              <a:rPr lang="en-US" sz="4395" b="1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495</a:t>
            </a:r>
          </a:p>
          <a:p>
            <a:pPr marL="949068" lvl="1" indent="-474534" algn="l">
              <a:lnSpc>
                <a:spcPts val="6154"/>
              </a:lnSpc>
              <a:buFont typeface="Arial"/>
              <a:buChar char="•"/>
            </a:pPr>
            <a:r>
              <a:rPr lang="en-US" sz="43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Conversion Rate: </a:t>
            </a:r>
            <a:r>
              <a:rPr lang="en-US" sz="4395" b="1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48%</a:t>
            </a:r>
          </a:p>
          <a:p>
            <a:pPr marL="949068" lvl="1" indent="-474534" algn="l">
              <a:lnSpc>
                <a:spcPts val="6154"/>
              </a:lnSpc>
              <a:buFont typeface="Arial"/>
              <a:buChar char="•"/>
            </a:pPr>
            <a:r>
              <a:rPr lang="en-US" sz="43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Gender Split: Male </a:t>
            </a:r>
            <a:r>
              <a:rPr lang="en-US" sz="4395" b="1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51%</a:t>
            </a:r>
            <a:r>
              <a:rPr lang="en-US" sz="43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, Female </a:t>
            </a:r>
            <a:r>
              <a:rPr lang="en-US" sz="4395" b="1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49%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B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94802" y="4762996"/>
            <a:ext cx="6230670" cy="4126879"/>
            <a:chOff x="0" y="0"/>
            <a:chExt cx="2017804" cy="133649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17804" cy="1336491"/>
            </a:xfrm>
            <a:custGeom>
              <a:avLst/>
              <a:gdLst/>
              <a:ahLst/>
              <a:cxnLst/>
              <a:rect l="l" t="t" r="r" b="b"/>
              <a:pathLst>
                <a:path w="2017804" h="1336491">
                  <a:moveTo>
                    <a:pt x="63370" y="0"/>
                  </a:moveTo>
                  <a:lnTo>
                    <a:pt x="1954434" y="0"/>
                  </a:lnTo>
                  <a:cubicBezTo>
                    <a:pt x="1971241" y="0"/>
                    <a:pt x="1987359" y="6676"/>
                    <a:pt x="1999243" y="18561"/>
                  </a:cubicBezTo>
                  <a:cubicBezTo>
                    <a:pt x="2011127" y="30445"/>
                    <a:pt x="2017804" y="46563"/>
                    <a:pt x="2017804" y="63370"/>
                  </a:cubicBezTo>
                  <a:lnTo>
                    <a:pt x="2017804" y="1273121"/>
                  </a:lnTo>
                  <a:cubicBezTo>
                    <a:pt x="2017804" y="1308119"/>
                    <a:pt x="1989432" y="1336491"/>
                    <a:pt x="1954434" y="1336491"/>
                  </a:cubicBezTo>
                  <a:lnTo>
                    <a:pt x="63370" y="1336491"/>
                  </a:lnTo>
                  <a:cubicBezTo>
                    <a:pt x="46563" y="1336491"/>
                    <a:pt x="30445" y="1329814"/>
                    <a:pt x="18561" y="1317930"/>
                  </a:cubicBezTo>
                  <a:cubicBezTo>
                    <a:pt x="6676" y="1306046"/>
                    <a:pt x="0" y="1289927"/>
                    <a:pt x="0" y="1273121"/>
                  </a:cubicBezTo>
                  <a:lnTo>
                    <a:pt x="0" y="63370"/>
                  </a:lnTo>
                  <a:cubicBezTo>
                    <a:pt x="0" y="46563"/>
                    <a:pt x="6676" y="30445"/>
                    <a:pt x="18561" y="18561"/>
                  </a:cubicBezTo>
                  <a:cubicBezTo>
                    <a:pt x="30445" y="6676"/>
                    <a:pt x="46563" y="0"/>
                    <a:pt x="63370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2017804" cy="1403166"/>
            </a:xfrm>
            <a:prstGeom prst="rect">
              <a:avLst/>
            </a:prstGeom>
          </p:spPr>
          <p:txBody>
            <a:bodyPr lIns="38523" tIns="38523" rIns="38523" bIns="38523" rtlCol="0" anchor="ctr"/>
            <a:lstStyle/>
            <a:p>
              <a:pPr algn="l">
                <a:lnSpc>
                  <a:spcPts val="461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307331" y="1018621"/>
            <a:ext cx="20830043" cy="2654900"/>
            <a:chOff x="0" y="0"/>
            <a:chExt cx="5115576" cy="65200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15577" cy="652008"/>
            </a:xfrm>
            <a:custGeom>
              <a:avLst/>
              <a:gdLst/>
              <a:ahLst/>
              <a:cxnLst/>
              <a:rect l="l" t="t" r="r" b="b"/>
              <a:pathLst>
                <a:path w="5115577" h="652008">
                  <a:moveTo>
                    <a:pt x="18955" y="0"/>
                  </a:moveTo>
                  <a:lnTo>
                    <a:pt x="5096621" y="0"/>
                  </a:lnTo>
                  <a:cubicBezTo>
                    <a:pt x="5101649" y="0"/>
                    <a:pt x="5106470" y="1997"/>
                    <a:pt x="5110025" y="5552"/>
                  </a:cubicBezTo>
                  <a:cubicBezTo>
                    <a:pt x="5113579" y="9107"/>
                    <a:pt x="5115577" y="13928"/>
                    <a:pt x="5115577" y="18955"/>
                  </a:cubicBezTo>
                  <a:lnTo>
                    <a:pt x="5115577" y="633052"/>
                  </a:lnTo>
                  <a:cubicBezTo>
                    <a:pt x="5115577" y="638080"/>
                    <a:pt x="5113579" y="642901"/>
                    <a:pt x="5110025" y="646456"/>
                  </a:cubicBezTo>
                  <a:cubicBezTo>
                    <a:pt x="5106470" y="650010"/>
                    <a:pt x="5101649" y="652008"/>
                    <a:pt x="5096621" y="652008"/>
                  </a:cubicBezTo>
                  <a:lnTo>
                    <a:pt x="18955" y="652008"/>
                  </a:lnTo>
                  <a:cubicBezTo>
                    <a:pt x="13928" y="652008"/>
                    <a:pt x="9107" y="650010"/>
                    <a:pt x="5552" y="646456"/>
                  </a:cubicBezTo>
                  <a:cubicBezTo>
                    <a:pt x="1997" y="642901"/>
                    <a:pt x="0" y="638080"/>
                    <a:pt x="0" y="633052"/>
                  </a:cubicBezTo>
                  <a:lnTo>
                    <a:pt x="0" y="18955"/>
                  </a:lnTo>
                  <a:cubicBezTo>
                    <a:pt x="0" y="13928"/>
                    <a:pt x="1997" y="9107"/>
                    <a:pt x="5552" y="5552"/>
                  </a:cubicBezTo>
                  <a:cubicBezTo>
                    <a:pt x="9107" y="1997"/>
                    <a:pt x="13928" y="0"/>
                    <a:pt x="18955" y="0"/>
                  </a:cubicBezTo>
                  <a:close/>
                </a:path>
              </a:pathLst>
            </a:custGeom>
            <a:solidFill>
              <a:srgbClr val="825FC8"/>
            </a:solidFill>
            <a:ln w="571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190500"/>
              <a:ext cx="5115576" cy="842508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124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910138" y="3203917"/>
            <a:ext cx="9156078" cy="939209"/>
            <a:chOff x="0" y="0"/>
            <a:chExt cx="2248609" cy="23065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48609" cy="230657"/>
            </a:xfrm>
            <a:custGeom>
              <a:avLst/>
              <a:gdLst/>
              <a:ahLst/>
              <a:cxnLst/>
              <a:rect l="l" t="t" r="r" b="b"/>
              <a:pathLst>
                <a:path w="2248609" h="230657">
                  <a:moveTo>
                    <a:pt x="43123" y="0"/>
                  </a:moveTo>
                  <a:lnTo>
                    <a:pt x="2205486" y="0"/>
                  </a:lnTo>
                  <a:cubicBezTo>
                    <a:pt x="2229302" y="0"/>
                    <a:pt x="2248609" y="19307"/>
                    <a:pt x="2248609" y="43123"/>
                  </a:cubicBezTo>
                  <a:lnTo>
                    <a:pt x="2248609" y="187534"/>
                  </a:lnTo>
                  <a:cubicBezTo>
                    <a:pt x="2248609" y="211350"/>
                    <a:pt x="2229302" y="230657"/>
                    <a:pt x="2205486" y="230657"/>
                  </a:cubicBezTo>
                  <a:lnTo>
                    <a:pt x="43123" y="230657"/>
                  </a:lnTo>
                  <a:cubicBezTo>
                    <a:pt x="19307" y="230657"/>
                    <a:pt x="0" y="211350"/>
                    <a:pt x="0" y="187534"/>
                  </a:cubicBezTo>
                  <a:lnTo>
                    <a:pt x="0" y="43123"/>
                  </a:lnTo>
                  <a:cubicBezTo>
                    <a:pt x="0" y="19307"/>
                    <a:pt x="19307" y="0"/>
                    <a:pt x="43123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85725"/>
              <a:ext cx="2248609" cy="3163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879"/>
                </a:lnSpc>
              </a:pPr>
              <a:r>
                <a:rPr lang="en-US" sz="4199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Using Donut Chart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306727" y="4762996"/>
            <a:ext cx="8186470" cy="4126879"/>
            <a:chOff x="0" y="0"/>
            <a:chExt cx="2651190" cy="133649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651190" cy="1336491"/>
            </a:xfrm>
            <a:custGeom>
              <a:avLst/>
              <a:gdLst/>
              <a:ahLst/>
              <a:cxnLst/>
              <a:rect l="l" t="t" r="r" b="b"/>
              <a:pathLst>
                <a:path w="2651190" h="1336491">
                  <a:moveTo>
                    <a:pt x="48231" y="0"/>
                  </a:moveTo>
                  <a:lnTo>
                    <a:pt x="2602960" y="0"/>
                  </a:lnTo>
                  <a:cubicBezTo>
                    <a:pt x="2615751" y="0"/>
                    <a:pt x="2628019" y="5081"/>
                    <a:pt x="2637064" y="14126"/>
                  </a:cubicBezTo>
                  <a:cubicBezTo>
                    <a:pt x="2646109" y="23171"/>
                    <a:pt x="2651190" y="35439"/>
                    <a:pt x="2651190" y="48231"/>
                  </a:cubicBezTo>
                  <a:lnTo>
                    <a:pt x="2651190" y="1288260"/>
                  </a:lnTo>
                  <a:cubicBezTo>
                    <a:pt x="2651190" y="1301052"/>
                    <a:pt x="2646109" y="1313319"/>
                    <a:pt x="2637064" y="1322364"/>
                  </a:cubicBezTo>
                  <a:cubicBezTo>
                    <a:pt x="2628019" y="1331409"/>
                    <a:pt x="2615751" y="1336491"/>
                    <a:pt x="2602960" y="1336491"/>
                  </a:cubicBezTo>
                  <a:lnTo>
                    <a:pt x="48231" y="1336491"/>
                  </a:lnTo>
                  <a:cubicBezTo>
                    <a:pt x="35439" y="1336491"/>
                    <a:pt x="23171" y="1331409"/>
                    <a:pt x="14126" y="1322364"/>
                  </a:cubicBezTo>
                  <a:cubicBezTo>
                    <a:pt x="5081" y="1313319"/>
                    <a:pt x="0" y="1301052"/>
                    <a:pt x="0" y="1288260"/>
                  </a:cubicBezTo>
                  <a:lnTo>
                    <a:pt x="0" y="48231"/>
                  </a:lnTo>
                  <a:cubicBezTo>
                    <a:pt x="0" y="35439"/>
                    <a:pt x="5081" y="23171"/>
                    <a:pt x="14126" y="14126"/>
                  </a:cubicBezTo>
                  <a:cubicBezTo>
                    <a:pt x="23171" y="5081"/>
                    <a:pt x="35439" y="0"/>
                    <a:pt x="4823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2651190" cy="1403166"/>
            </a:xfrm>
            <a:prstGeom prst="rect">
              <a:avLst/>
            </a:prstGeom>
          </p:spPr>
          <p:txBody>
            <a:bodyPr lIns="38523" tIns="38523" rIns="38523" bIns="38523" rtlCol="0" anchor="ctr"/>
            <a:lstStyle/>
            <a:p>
              <a:pPr algn="l">
                <a:lnSpc>
                  <a:spcPts val="461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2561865" y="5373637"/>
            <a:ext cx="4696545" cy="2905596"/>
          </a:xfrm>
          <a:custGeom>
            <a:avLst/>
            <a:gdLst/>
            <a:ahLst/>
            <a:cxnLst/>
            <a:rect l="l" t="t" r="r" b="b"/>
            <a:pathLst>
              <a:path w="4696545" h="2905596">
                <a:moveTo>
                  <a:pt x="0" y="0"/>
                </a:moveTo>
                <a:lnTo>
                  <a:pt x="4696545" y="0"/>
                </a:lnTo>
                <a:lnTo>
                  <a:pt x="4696545" y="2905596"/>
                </a:lnTo>
                <a:lnTo>
                  <a:pt x="0" y="29055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2799258" y="5596238"/>
            <a:ext cx="4696545" cy="2460394"/>
          </a:xfrm>
          <a:custGeom>
            <a:avLst/>
            <a:gdLst/>
            <a:ahLst/>
            <a:cxnLst/>
            <a:rect l="l" t="t" r="r" b="b"/>
            <a:pathLst>
              <a:path w="4696545" h="2460394">
                <a:moveTo>
                  <a:pt x="0" y="0"/>
                </a:moveTo>
                <a:lnTo>
                  <a:pt x="4696546" y="0"/>
                </a:lnTo>
                <a:lnTo>
                  <a:pt x="4696546" y="2460394"/>
                </a:lnTo>
                <a:lnTo>
                  <a:pt x="0" y="24603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644"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5916732" y="6419532"/>
            <a:ext cx="1785611" cy="907686"/>
          </a:xfrm>
          <a:custGeom>
            <a:avLst/>
            <a:gdLst/>
            <a:ahLst/>
            <a:cxnLst/>
            <a:rect l="l" t="t" r="r" b="b"/>
            <a:pathLst>
              <a:path w="1785611" h="907686">
                <a:moveTo>
                  <a:pt x="0" y="0"/>
                </a:moveTo>
                <a:lnTo>
                  <a:pt x="1785611" y="0"/>
                </a:lnTo>
                <a:lnTo>
                  <a:pt x="1785611" y="907686"/>
                </a:lnTo>
                <a:lnTo>
                  <a:pt x="0" y="9076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2561865" y="6466472"/>
            <a:ext cx="1538603" cy="813806"/>
          </a:xfrm>
          <a:custGeom>
            <a:avLst/>
            <a:gdLst/>
            <a:ahLst/>
            <a:cxnLst/>
            <a:rect l="l" t="t" r="r" b="b"/>
            <a:pathLst>
              <a:path w="1538603" h="813806">
                <a:moveTo>
                  <a:pt x="0" y="0"/>
                </a:moveTo>
                <a:lnTo>
                  <a:pt x="1538603" y="0"/>
                </a:lnTo>
                <a:lnTo>
                  <a:pt x="1538603" y="813806"/>
                </a:lnTo>
                <a:lnTo>
                  <a:pt x="0" y="8138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546198" y="1430309"/>
            <a:ext cx="1589320" cy="1831524"/>
          </a:xfrm>
          <a:custGeom>
            <a:avLst/>
            <a:gdLst/>
            <a:ahLst/>
            <a:cxnLst/>
            <a:rect l="l" t="t" r="r" b="b"/>
            <a:pathLst>
              <a:path w="1589320" h="1831524">
                <a:moveTo>
                  <a:pt x="0" y="0"/>
                </a:moveTo>
                <a:lnTo>
                  <a:pt x="1589320" y="0"/>
                </a:lnTo>
                <a:lnTo>
                  <a:pt x="1589320" y="1831525"/>
                </a:lnTo>
                <a:lnTo>
                  <a:pt x="0" y="18315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793064" y="1498664"/>
            <a:ext cx="16701872" cy="1087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20"/>
              </a:lnSpc>
              <a:spcBef>
                <a:spcPct val="0"/>
              </a:spcBef>
            </a:pPr>
            <a:r>
              <a:rPr lang="en-US" sz="6300" spc="957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BUYER VS NON-BUYER ANALYSIS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107691" y="5908808"/>
            <a:ext cx="6296132" cy="1740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78605" lvl="1" indent="-539303" algn="l">
              <a:lnSpc>
                <a:spcPts val="6994"/>
              </a:lnSpc>
              <a:buFont typeface="Arial"/>
              <a:buChar char="•"/>
            </a:pPr>
            <a:r>
              <a:rPr lang="en-US" sz="49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Buyers: 48%</a:t>
            </a:r>
          </a:p>
          <a:p>
            <a:pPr marL="1078605" lvl="1" indent="-539303" algn="l">
              <a:lnSpc>
                <a:spcPts val="6994"/>
              </a:lnSpc>
              <a:buFont typeface="Arial"/>
              <a:buChar char="•"/>
            </a:pPr>
            <a:r>
              <a:rPr lang="en-US" sz="49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Non-Buyers: 52%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B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94802" y="4762996"/>
            <a:ext cx="6230670" cy="4126879"/>
            <a:chOff x="0" y="0"/>
            <a:chExt cx="2017804" cy="133649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17804" cy="1336491"/>
            </a:xfrm>
            <a:custGeom>
              <a:avLst/>
              <a:gdLst/>
              <a:ahLst/>
              <a:cxnLst/>
              <a:rect l="l" t="t" r="r" b="b"/>
              <a:pathLst>
                <a:path w="2017804" h="1336491">
                  <a:moveTo>
                    <a:pt x="63370" y="0"/>
                  </a:moveTo>
                  <a:lnTo>
                    <a:pt x="1954434" y="0"/>
                  </a:lnTo>
                  <a:cubicBezTo>
                    <a:pt x="1971241" y="0"/>
                    <a:pt x="1987359" y="6676"/>
                    <a:pt x="1999243" y="18561"/>
                  </a:cubicBezTo>
                  <a:cubicBezTo>
                    <a:pt x="2011127" y="30445"/>
                    <a:pt x="2017804" y="46563"/>
                    <a:pt x="2017804" y="63370"/>
                  </a:cubicBezTo>
                  <a:lnTo>
                    <a:pt x="2017804" y="1273121"/>
                  </a:lnTo>
                  <a:cubicBezTo>
                    <a:pt x="2017804" y="1308119"/>
                    <a:pt x="1989432" y="1336491"/>
                    <a:pt x="1954434" y="1336491"/>
                  </a:cubicBezTo>
                  <a:lnTo>
                    <a:pt x="63370" y="1336491"/>
                  </a:lnTo>
                  <a:cubicBezTo>
                    <a:pt x="46563" y="1336491"/>
                    <a:pt x="30445" y="1329814"/>
                    <a:pt x="18561" y="1317930"/>
                  </a:cubicBezTo>
                  <a:cubicBezTo>
                    <a:pt x="6676" y="1306046"/>
                    <a:pt x="0" y="1289927"/>
                    <a:pt x="0" y="1273121"/>
                  </a:cubicBezTo>
                  <a:lnTo>
                    <a:pt x="0" y="63370"/>
                  </a:lnTo>
                  <a:cubicBezTo>
                    <a:pt x="0" y="46563"/>
                    <a:pt x="6676" y="30445"/>
                    <a:pt x="18561" y="18561"/>
                  </a:cubicBezTo>
                  <a:cubicBezTo>
                    <a:pt x="30445" y="6676"/>
                    <a:pt x="46563" y="0"/>
                    <a:pt x="63370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2017804" cy="1403166"/>
            </a:xfrm>
            <a:prstGeom prst="rect">
              <a:avLst/>
            </a:prstGeom>
          </p:spPr>
          <p:txBody>
            <a:bodyPr lIns="38523" tIns="38523" rIns="38523" bIns="38523" rtlCol="0" anchor="ctr"/>
            <a:lstStyle/>
            <a:p>
              <a:pPr algn="l">
                <a:lnSpc>
                  <a:spcPts val="461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307331" y="1018621"/>
            <a:ext cx="20830043" cy="2654900"/>
            <a:chOff x="0" y="0"/>
            <a:chExt cx="5115576" cy="65200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15577" cy="652008"/>
            </a:xfrm>
            <a:custGeom>
              <a:avLst/>
              <a:gdLst/>
              <a:ahLst/>
              <a:cxnLst/>
              <a:rect l="l" t="t" r="r" b="b"/>
              <a:pathLst>
                <a:path w="5115577" h="652008">
                  <a:moveTo>
                    <a:pt x="18955" y="0"/>
                  </a:moveTo>
                  <a:lnTo>
                    <a:pt x="5096621" y="0"/>
                  </a:lnTo>
                  <a:cubicBezTo>
                    <a:pt x="5101649" y="0"/>
                    <a:pt x="5106470" y="1997"/>
                    <a:pt x="5110025" y="5552"/>
                  </a:cubicBezTo>
                  <a:cubicBezTo>
                    <a:pt x="5113579" y="9107"/>
                    <a:pt x="5115577" y="13928"/>
                    <a:pt x="5115577" y="18955"/>
                  </a:cubicBezTo>
                  <a:lnTo>
                    <a:pt x="5115577" y="633052"/>
                  </a:lnTo>
                  <a:cubicBezTo>
                    <a:pt x="5115577" y="638080"/>
                    <a:pt x="5113579" y="642901"/>
                    <a:pt x="5110025" y="646456"/>
                  </a:cubicBezTo>
                  <a:cubicBezTo>
                    <a:pt x="5106470" y="650010"/>
                    <a:pt x="5101649" y="652008"/>
                    <a:pt x="5096621" y="652008"/>
                  </a:cubicBezTo>
                  <a:lnTo>
                    <a:pt x="18955" y="652008"/>
                  </a:lnTo>
                  <a:cubicBezTo>
                    <a:pt x="13928" y="652008"/>
                    <a:pt x="9107" y="650010"/>
                    <a:pt x="5552" y="646456"/>
                  </a:cubicBezTo>
                  <a:cubicBezTo>
                    <a:pt x="1997" y="642901"/>
                    <a:pt x="0" y="638080"/>
                    <a:pt x="0" y="633052"/>
                  </a:cubicBezTo>
                  <a:lnTo>
                    <a:pt x="0" y="18955"/>
                  </a:lnTo>
                  <a:cubicBezTo>
                    <a:pt x="0" y="13928"/>
                    <a:pt x="1997" y="9107"/>
                    <a:pt x="5552" y="5552"/>
                  </a:cubicBezTo>
                  <a:cubicBezTo>
                    <a:pt x="9107" y="1997"/>
                    <a:pt x="13928" y="0"/>
                    <a:pt x="18955" y="0"/>
                  </a:cubicBezTo>
                  <a:close/>
                </a:path>
              </a:pathLst>
            </a:custGeom>
            <a:solidFill>
              <a:srgbClr val="825FC8"/>
            </a:solidFill>
            <a:ln w="571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190500"/>
              <a:ext cx="5115576" cy="842508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124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565961" y="3203917"/>
            <a:ext cx="9156078" cy="939209"/>
            <a:chOff x="0" y="0"/>
            <a:chExt cx="2248609" cy="23065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48609" cy="230657"/>
            </a:xfrm>
            <a:custGeom>
              <a:avLst/>
              <a:gdLst/>
              <a:ahLst/>
              <a:cxnLst/>
              <a:rect l="l" t="t" r="r" b="b"/>
              <a:pathLst>
                <a:path w="2248609" h="230657">
                  <a:moveTo>
                    <a:pt x="43123" y="0"/>
                  </a:moveTo>
                  <a:lnTo>
                    <a:pt x="2205486" y="0"/>
                  </a:lnTo>
                  <a:cubicBezTo>
                    <a:pt x="2229302" y="0"/>
                    <a:pt x="2248609" y="19307"/>
                    <a:pt x="2248609" y="43123"/>
                  </a:cubicBezTo>
                  <a:lnTo>
                    <a:pt x="2248609" y="187534"/>
                  </a:lnTo>
                  <a:cubicBezTo>
                    <a:pt x="2248609" y="211350"/>
                    <a:pt x="2229302" y="230657"/>
                    <a:pt x="2205486" y="230657"/>
                  </a:cubicBezTo>
                  <a:lnTo>
                    <a:pt x="43123" y="230657"/>
                  </a:lnTo>
                  <a:cubicBezTo>
                    <a:pt x="19307" y="230657"/>
                    <a:pt x="0" y="211350"/>
                    <a:pt x="0" y="187534"/>
                  </a:cubicBezTo>
                  <a:lnTo>
                    <a:pt x="0" y="43123"/>
                  </a:lnTo>
                  <a:cubicBezTo>
                    <a:pt x="0" y="19307"/>
                    <a:pt x="19307" y="0"/>
                    <a:pt x="43123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85725"/>
              <a:ext cx="2248609" cy="3163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879"/>
                </a:lnSpc>
              </a:pPr>
              <a:r>
                <a:rPr lang="en-US" sz="4199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Using Donut Chart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306727" y="4762996"/>
            <a:ext cx="8186470" cy="4126879"/>
            <a:chOff x="0" y="0"/>
            <a:chExt cx="2651190" cy="133649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651190" cy="1336491"/>
            </a:xfrm>
            <a:custGeom>
              <a:avLst/>
              <a:gdLst/>
              <a:ahLst/>
              <a:cxnLst/>
              <a:rect l="l" t="t" r="r" b="b"/>
              <a:pathLst>
                <a:path w="2651190" h="1336491">
                  <a:moveTo>
                    <a:pt x="48231" y="0"/>
                  </a:moveTo>
                  <a:lnTo>
                    <a:pt x="2602960" y="0"/>
                  </a:lnTo>
                  <a:cubicBezTo>
                    <a:pt x="2615751" y="0"/>
                    <a:pt x="2628019" y="5081"/>
                    <a:pt x="2637064" y="14126"/>
                  </a:cubicBezTo>
                  <a:cubicBezTo>
                    <a:pt x="2646109" y="23171"/>
                    <a:pt x="2651190" y="35439"/>
                    <a:pt x="2651190" y="48231"/>
                  </a:cubicBezTo>
                  <a:lnTo>
                    <a:pt x="2651190" y="1288260"/>
                  </a:lnTo>
                  <a:cubicBezTo>
                    <a:pt x="2651190" y="1301052"/>
                    <a:pt x="2646109" y="1313319"/>
                    <a:pt x="2637064" y="1322364"/>
                  </a:cubicBezTo>
                  <a:cubicBezTo>
                    <a:pt x="2628019" y="1331409"/>
                    <a:pt x="2615751" y="1336491"/>
                    <a:pt x="2602960" y="1336491"/>
                  </a:cubicBezTo>
                  <a:lnTo>
                    <a:pt x="48231" y="1336491"/>
                  </a:lnTo>
                  <a:cubicBezTo>
                    <a:pt x="35439" y="1336491"/>
                    <a:pt x="23171" y="1331409"/>
                    <a:pt x="14126" y="1322364"/>
                  </a:cubicBezTo>
                  <a:cubicBezTo>
                    <a:pt x="5081" y="1313319"/>
                    <a:pt x="0" y="1301052"/>
                    <a:pt x="0" y="1288260"/>
                  </a:cubicBezTo>
                  <a:lnTo>
                    <a:pt x="0" y="48231"/>
                  </a:lnTo>
                  <a:cubicBezTo>
                    <a:pt x="0" y="35439"/>
                    <a:pt x="5081" y="23171"/>
                    <a:pt x="14126" y="14126"/>
                  </a:cubicBezTo>
                  <a:cubicBezTo>
                    <a:pt x="23171" y="5081"/>
                    <a:pt x="35439" y="0"/>
                    <a:pt x="4823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2651190" cy="1403166"/>
            </a:xfrm>
            <a:prstGeom prst="rect">
              <a:avLst/>
            </a:prstGeom>
          </p:spPr>
          <p:txBody>
            <a:bodyPr lIns="38523" tIns="38523" rIns="38523" bIns="38523" rtlCol="0" anchor="ctr"/>
            <a:lstStyle/>
            <a:p>
              <a:pPr algn="l">
                <a:lnSpc>
                  <a:spcPts val="461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5916732" y="6419532"/>
            <a:ext cx="1785611" cy="907686"/>
          </a:xfrm>
          <a:custGeom>
            <a:avLst/>
            <a:gdLst/>
            <a:ahLst/>
            <a:cxnLst/>
            <a:rect l="l" t="t" r="r" b="b"/>
            <a:pathLst>
              <a:path w="1785611" h="907686">
                <a:moveTo>
                  <a:pt x="0" y="0"/>
                </a:moveTo>
                <a:lnTo>
                  <a:pt x="1785611" y="0"/>
                </a:lnTo>
                <a:lnTo>
                  <a:pt x="1785611" y="907686"/>
                </a:lnTo>
                <a:lnTo>
                  <a:pt x="0" y="9076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2561865" y="6466472"/>
            <a:ext cx="1538603" cy="813806"/>
          </a:xfrm>
          <a:custGeom>
            <a:avLst/>
            <a:gdLst/>
            <a:ahLst/>
            <a:cxnLst/>
            <a:rect l="l" t="t" r="r" b="b"/>
            <a:pathLst>
              <a:path w="1538603" h="813806">
                <a:moveTo>
                  <a:pt x="0" y="0"/>
                </a:moveTo>
                <a:lnTo>
                  <a:pt x="1538603" y="0"/>
                </a:lnTo>
                <a:lnTo>
                  <a:pt x="1538603" y="813806"/>
                </a:lnTo>
                <a:lnTo>
                  <a:pt x="0" y="8138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2041660" y="5565811"/>
            <a:ext cx="5736955" cy="2995028"/>
          </a:xfrm>
          <a:custGeom>
            <a:avLst/>
            <a:gdLst/>
            <a:ahLst/>
            <a:cxnLst/>
            <a:rect l="l" t="t" r="r" b="b"/>
            <a:pathLst>
              <a:path w="5736955" h="2995028">
                <a:moveTo>
                  <a:pt x="0" y="0"/>
                </a:moveTo>
                <a:lnTo>
                  <a:pt x="5736955" y="0"/>
                </a:lnTo>
                <a:lnTo>
                  <a:pt x="5736955" y="2995028"/>
                </a:lnTo>
                <a:lnTo>
                  <a:pt x="0" y="29950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546198" y="1434846"/>
            <a:ext cx="16701872" cy="1196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60"/>
              </a:lnSpc>
              <a:spcBef>
                <a:spcPct val="0"/>
              </a:spcBef>
            </a:pPr>
            <a:r>
              <a:rPr lang="en-US" sz="6900" spc="1048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MALE VS FEMALE BUYERS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576819" y="5032508"/>
            <a:ext cx="7646287" cy="3133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0658" lvl="1" indent="-485329" algn="l">
              <a:lnSpc>
                <a:spcPts val="6294"/>
              </a:lnSpc>
              <a:buFont typeface="Arial"/>
              <a:buChar char="•"/>
            </a:pPr>
            <a:r>
              <a:rPr lang="en-US" sz="44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Male buyers: 51%</a:t>
            </a:r>
          </a:p>
          <a:p>
            <a:pPr marL="970658" lvl="1" indent="-485329" algn="l">
              <a:lnSpc>
                <a:spcPts val="6294"/>
              </a:lnSpc>
              <a:buFont typeface="Arial"/>
              <a:buChar char="•"/>
            </a:pPr>
            <a:r>
              <a:rPr lang="en-US" sz="44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Female buyers: 49%</a:t>
            </a:r>
          </a:p>
          <a:p>
            <a:pPr algn="l">
              <a:lnSpc>
                <a:spcPts val="6294"/>
              </a:lnSpc>
            </a:pPr>
            <a:r>
              <a:rPr lang="en-US" sz="44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Hence, Gender split is almost equal.</a:t>
            </a:r>
          </a:p>
        </p:txBody>
      </p:sp>
      <p:sp>
        <p:nvSpPr>
          <p:cNvPr id="19" name="Freeform 19"/>
          <p:cNvSpPr/>
          <p:nvPr/>
        </p:nvSpPr>
        <p:spPr>
          <a:xfrm>
            <a:off x="1247000" y="1430309"/>
            <a:ext cx="1589320" cy="1831524"/>
          </a:xfrm>
          <a:custGeom>
            <a:avLst/>
            <a:gdLst/>
            <a:ahLst/>
            <a:cxnLst/>
            <a:rect l="l" t="t" r="r" b="b"/>
            <a:pathLst>
              <a:path w="1589320" h="1831524">
                <a:moveTo>
                  <a:pt x="0" y="0"/>
                </a:moveTo>
                <a:lnTo>
                  <a:pt x="1589320" y="0"/>
                </a:lnTo>
                <a:lnTo>
                  <a:pt x="1589320" y="1831525"/>
                </a:lnTo>
                <a:lnTo>
                  <a:pt x="0" y="18315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B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94802" y="4762996"/>
            <a:ext cx="6230670" cy="4126879"/>
            <a:chOff x="0" y="0"/>
            <a:chExt cx="2017804" cy="133649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17804" cy="1336491"/>
            </a:xfrm>
            <a:custGeom>
              <a:avLst/>
              <a:gdLst/>
              <a:ahLst/>
              <a:cxnLst/>
              <a:rect l="l" t="t" r="r" b="b"/>
              <a:pathLst>
                <a:path w="2017804" h="1336491">
                  <a:moveTo>
                    <a:pt x="63370" y="0"/>
                  </a:moveTo>
                  <a:lnTo>
                    <a:pt x="1954434" y="0"/>
                  </a:lnTo>
                  <a:cubicBezTo>
                    <a:pt x="1971241" y="0"/>
                    <a:pt x="1987359" y="6676"/>
                    <a:pt x="1999243" y="18561"/>
                  </a:cubicBezTo>
                  <a:cubicBezTo>
                    <a:pt x="2011127" y="30445"/>
                    <a:pt x="2017804" y="46563"/>
                    <a:pt x="2017804" y="63370"/>
                  </a:cubicBezTo>
                  <a:lnTo>
                    <a:pt x="2017804" y="1273121"/>
                  </a:lnTo>
                  <a:cubicBezTo>
                    <a:pt x="2017804" y="1308119"/>
                    <a:pt x="1989432" y="1336491"/>
                    <a:pt x="1954434" y="1336491"/>
                  </a:cubicBezTo>
                  <a:lnTo>
                    <a:pt x="63370" y="1336491"/>
                  </a:lnTo>
                  <a:cubicBezTo>
                    <a:pt x="46563" y="1336491"/>
                    <a:pt x="30445" y="1329814"/>
                    <a:pt x="18561" y="1317930"/>
                  </a:cubicBezTo>
                  <a:cubicBezTo>
                    <a:pt x="6676" y="1306046"/>
                    <a:pt x="0" y="1289927"/>
                    <a:pt x="0" y="1273121"/>
                  </a:cubicBezTo>
                  <a:lnTo>
                    <a:pt x="0" y="63370"/>
                  </a:lnTo>
                  <a:cubicBezTo>
                    <a:pt x="0" y="46563"/>
                    <a:pt x="6676" y="30445"/>
                    <a:pt x="18561" y="18561"/>
                  </a:cubicBezTo>
                  <a:cubicBezTo>
                    <a:pt x="30445" y="6676"/>
                    <a:pt x="46563" y="0"/>
                    <a:pt x="63370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2017804" cy="1403166"/>
            </a:xfrm>
            <a:prstGeom prst="rect">
              <a:avLst/>
            </a:prstGeom>
          </p:spPr>
          <p:txBody>
            <a:bodyPr lIns="38523" tIns="38523" rIns="38523" bIns="38523" rtlCol="0" anchor="ctr"/>
            <a:lstStyle/>
            <a:p>
              <a:pPr algn="l">
                <a:lnSpc>
                  <a:spcPts val="461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307331" y="1018621"/>
            <a:ext cx="20830043" cy="2654900"/>
            <a:chOff x="0" y="0"/>
            <a:chExt cx="5115576" cy="65200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15577" cy="652008"/>
            </a:xfrm>
            <a:custGeom>
              <a:avLst/>
              <a:gdLst/>
              <a:ahLst/>
              <a:cxnLst/>
              <a:rect l="l" t="t" r="r" b="b"/>
              <a:pathLst>
                <a:path w="5115577" h="652008">
                  <a:moveTo>
                    <a:pt x="18955" y="0"/>
                  </a:moveTo>
                  <a:lnTo>
                    <a:pt x="5096621" y="0"/>
                  </a:lnTo>
                  <a:cubicBezTo>
                    <a:pt x="5101649" y="0"/>
                    <a:pt x="5106470" y="1997"/>
                    <a:pt x="5110025" y="5552"/>
                  </a:cubicBezTo>
                  <a:cubicBezTo>
                    <a:pt x="5113579" y="9107"/>
                    <a:pt x="5115577" y="13928"/>
                    <a:pt x="5115577" y="18955"/>
                  </a:cubicBezTo>
                  <a:lnTo>
                    <a:pt x="5115577" y="633052"/>
                  </a:lnTo>
                  <a:cubicBezTo>
                    <a:pt x="5115577" y="638080"/>
                    <a:pt x="5113579" y="642901"/>
                    <a:pt x="5110025" y="646456"/>
                  </a:cubicBezTo>
                  <a:cubicBezTo>
                    <a:pt x="5106470" y="650010"/>
                    <a:pt x="5101649" y="652008"/>
                    <a:pt x="5096621" y="652008"/>
                  </a:cubicBezTo>
                  <a:lnTo>
                    <a:pt x="18955" y="652008"/>
                  </a:lnTo>
                  <a:cubicBezTo>
                    <a:pt x="13928" y="652008"/>
                    <a:pt x="9107" y="650010"/>
                    <a:pt x="5552" y="646456"/>
                  </a:cubicBezTo>
                  <a:cubicBezTo>
                    <a:pt x="1997" y="642901"/>
                    <a:pt x="0" y="638080"/>
                    <a:pt x="0" y="633052"/>
                  </a:cubicBezTo>
                  <a:lnTo>
                    <a:pt x="0" y="18955"/>
                  </a:lnTo>
                  <a:cubicBezTo>
                    <a:pt x="0" y="13928"/>
                    <a:pt x="1997" y="9107"/>
                    <a:pt x="5552" y="5552"/>
                  </a:cubicBezTo>
                  <a:cubicBezTo>
                    <a:pt x="9107" y="1997"/>
                    <a:pt x="13928" y="0"/>
                    <a:pt x="18955" y="0"/>
                  </a:cubicBezTo>
                  <a:close/>
                </a:path>
              </a:pathLst>
            </a:custGeom>
            <a:solidFill>
              <a:srgbClr val="825FC8"/>
            </a:solidFill>
            <a:ln w="571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190500"/>
              <a:ext cx="5115576" cy="842508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124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565961" y="3203917"/>
            <a:ext cx="9156078" cy="939209"/>
            <a:chOff x="0" y="0"/>
            <a:chExt cx="2248609" cy="23065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48609" cy="230657"/>
            </a:xfrm>
            <a:custGeom>
              <a:avLst/>
              <a:gdLst/>
              <a:ahLst/>
              <a:cxnLst/>
              <a:rect l="l" t="t" r="r" b="b"/>
              <a:pathLst>
                <a:path w="2248609" h="230657">
                  <a:moveTo>
                    <a:pt x="43123" y="0"/>
                  </a:moveTo>
                  <a:lnTo>
                    <a:pt x="2205486" y="0"/>
                  </a:lnTo>
                  <a:cubicBezTo>
                    <a:pt x="2229302" y="0"/>
                    <a:pt x="2248609" y="19307"/>
                    <a:pt x="2248609" y="43123"/>
                  </a:cubicBezTo>
                  <a:lnTo>
                    <a:pt x="2248609" y="187534"/>
                  </a:lnTo>
                  <a:cubicBezTo>
                    <a:pt x="2248609" y="211350"/>
                    <a:pt x="2229302" y="230657"/>
                    <a:pt x="2205486" y="230657"/>
                  </a:cubicBezTo>
                  <a:lnTo>
                    <a:pt x="43123" y="230657"/>
                  </a:lnTo>
                  <a:cubicBezTo>
                    <a:pt x="19307" y="230657"/>
                    <a:pt x="0" y="211350"/>
                    <a:pt x="0" y="187534"/>
                  </a:cubicBezTo>
                  <a:lnTo>
                    <a:pt x="0" y="43123"/>
                  </a:lnTo>
                  <a:cubicBezTo>
                    <a:pt x="0" y="19307"/>
                    <a:pt x="19307" y="0"/>
                    <a:pt x="43123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85725"/>
              <a:ext cx="2248609" cy="3163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879"/>
                </a:lnSpc>
              </a:pPr>
              <a:r>
                <a:rPr lang="en-US" sz="4199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Using Pie Chart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306727" y="4762996"/>
            <a:ext cx="8186470" cy="4126879"/>
            <a:chOff x="0" y="0"/>
            <a:chExt cx="2651190" cy="133649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651190" cy="1336491"/>
            </a:xfrm>
            <a:custGeom>
              <a:avLst/>
              <a:gdLst/>
              <a:ahLst/>
              <a:cxnLst/>
              <a:rect l="l" t="t" r="r" b="b"/>
              <a:pathLst>
                <a:path w="2651190" h="1336491">
                  <a:moveTo>
                    <a:pt x="48231" y="0"/>
                  </a:moveTo>
                  <a:lnTo>
                    <a:pt x="2602960" y="0"/>
                  </a:lnTo>
                  <a:cubicBezTo>
                    <a:pt x="2615751" y="0"/>
                    <a:pt x="2628019" y="5081"/>
                    <a:pt x="2637064" y="14126"/>
                  </a:cubicBezTo>
                  <a:cubicBezTo>
                    <a:pt x="2646109" y="23171"/>
                    <a:pt x="2651190" y="35439"/>
                    <a:pt x="2651190" y="48231"/>
                  </a:cubicBezTo>
                  <a:lnTo>
                    <a:pt x="2651190" y="1288260"/>
                  </a:lnTo>
                  <a:cubicBezTo>
                    <a:pt x="2651190" y="1301052"/>
                    <a:pt x="2646109" y="1313319"/>
                    <a:pt x="2637064" y="1322364"/>
                  </a:cubicBezTo>
                  <a:cubicBezTo>
                    <a:pt x="2628019" y="1331409"/>
                    <a:pt x="2615751" y="1336491"/>
                    <a:pt x="2602960" y="1336491"/>
                  </a:cubicBezTo>
                  <a:lnTo>
                    <a:pt x="48231" y="1336491"/>
                  </a:lnTo>
                  <a:cubicBezTo>
                    <a:pt x="35439" y="1336491"/>
                    <a:pt x="23171" y="1331409"/>
                    <a:pt x="14126" y="1322364"/>
                  </a:cubicBezTo>
                  <a:cubicBezTo>
                    <a:pt x="5081" y="1313319"/>
                    <a:pt x="0" y="1301052"/>
                    <a:pt x="0" y="1288260"/>
                  </a:cubicBezTo>
                  <a:lnTo>
                    <a:pt x="0" y="48231"/>
                  </a:lnTo>
                  <a:cubicBezTo>
                    <a:pt x="0" y="35439"/>
                    <a:pt x="5081" y="23171"/>
                    <a:pt x="14126" y="14126"/>
                  </a:cubicBezTo>
                  <a:cubicBezTo>
                    <a:pt x="23171" y="5081"/>
                    <a:pt x="35439" y="0"/>
                    <a:pt x="4823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2651190" cy="1403166"/>
            </a:xfrm>
            <a:prstGeom prst="rect">
              <a:avLst/>
            </a:prstGeom>
          </p:spPr>
          <p:txBody>
            <a:bodyPr lIns="38523" tIns="38523" rIns="38523" bIns="38523" rtlCol="0" anchor="ctr"/>
            <a:lstStyle/>
            <a:p>
              <a:pPr algn="l">
                <a:lnSpc>
                  <a:spcPts val="461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5916732" y="6419532"/>
            <a:ext cx="1785611" cy="907686"/>
          </a:xfrm>
          <a:custGeom>
            <a:avLst/>
            <a:gdLst/>
            <a:ahLst/>
            <a:cxnLst/>
            <a:rect l="l" t="t" r="r" b="b"/>
            <a:pathLst>
              <a:path w="1785611" h="907686">
                <a:moveTo>
                  <a:pt x="0" y="0"/>
                </a:moveTo>
                <a:lnTo>
                  <a:pt x="1785611" y="0"/>
                </a:lnTo>
                <a:lnTo>
                  <a:pt x="1785611" y="907686"/>
                </a:lnTo>
                <a:lnTo>
                  <a:pt x="0" y="9076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2561865" y="6466472"/>
            <a:ext cx="1538603" cy="813806"/>
          </a:xfrm>
          <a:custGeom>
            <a:avLst/>
            <a:gdLst/>
            <a:ahLst/>
            <a:cxnLst/>
            <a:rect l="l" t="t" r="r" b="b"/>
            <a:pathLst>
              <a:path w="1538603" h="813806">
                <a:moveTo>
                  <a:pt x="0" y="0"/>
                </a:moveTo>
                <a:lnTo>
                  <a:pt x="1538603" y="0"/>
                </a:lnTo>
                <a:lnTo>
                  <a:pt x="1538603" y="813806"/>
                </a:lnTo>
                <a:lnTo>
                  <a:pt x="0" y="8138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794802" y="5079360"/>
            <a:ext cx="6230670" cy="3494151"/>
          </a:xfrm>
          <a:custGeom>
            <a:avLst/>
            <a:gdLst/>
            <a:ahLst/>
            <a:cxnLst/>
            <a:rect l="l" t="t" r="r" b="b"/>
            <a:pathLst>
              <a:path w="6230670" h="3494151">
                <a:moveTo>
                  <a:pt x="0" y="0"/>
                </a:moveTo>
                <a:lnTo>
                  <a:pt x="6230671" y="0"/>
                </a:lnTo>
                <a:lnTo>
                  <a:pt x="6230671" y="3494151"/>
                </a:lnTo>
                <a:lnTo>
                  <a:pt x="0" y="34941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756754" y="1743782"/>
            <a:ext cx="16701872" cy="1071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80"/>
              </a:lnSpc>
              <a:spcBef>
                <a:spcPct val="0"/>
              </a:spcBef>
            </a:pPr>
            <a:r>
              <a:rPr lang="en-US" sz="6200" spc="942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HOME OWNERSHIP VS PURCHASE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144000" y="5032508"/>
            <a:ext cx="7108457" cy="4039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0658" lvl="1" indent="-485329" algn="l">
              <a:lnSpc>
                <a:spcPts val="6294"/>
              </a:lnSpc>
              <a:buFont typeface="Arial"/>
              <a:buChar char="•"/>
            </a:pPr>
            <a:r>
              <a:rPr lang="en-US" sz="44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Homeowners buying: 68%</a:t>
            </a:r>
          </a:p>
          <a:p>
            <a:pPr marL="970658" lvl="1" indent="-485329" algn="l">
              <a:lnSpc>
                <a:spcPts val="6294"/>
              </a:lnSpc>
              <a:buFont typeface="Arial"/>
              <a:buChar char="•"/>
            </a:pPr>
            <a:r>
              <a:rPr lang="en-US" sz="44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Renters buying: 32%</a:t>
            </a:r>
          </a:p>
          <a:p>
            <a:pPr algn="l">
              <a:lnSpc>
                <a:spcPts val="6294"/>
              </a:lnSpc>
            </a:pPr>
            <a:r>
              <a:rPr lang="en-US" sz="44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Hence, Homeowners have more financial stability.</a:t>
            </a:r>
          </a:p>
          <a:p>
            <a:pPr algn="l">
              <a:lnSpc>
                <a:spcPts val="7274"/>
              </a:lnSpc>
            </a:pPr>
            <a:endParaRPr lang="en-US" sz="4495">
              <a:solidFill>
                <a:srgbClr val="000000"/>
              </a:solidFill>
              <a:latin typeface="TT Rounds Condensed"/>
              <a:ea typeface="TT Rounds Condensed"/>
              <a:cs typeface="TT Rounds Condensed"/>
              <a:sym typeface="TT Rounds Condensed"/>
            </a:endParaRPr>
          </a:p>
        </p:txBody>
      </p:sp>
      <p:sp>
        <p:nvSpPr>
          <p:cNvPr id="19" name="Freeform 19"/>
          <p:cNvSpPr/>
          <p:nvPr/>
        </p:nvSpPr>
        <p:spPr>
          <a:xfrm>
            <a:off x="546198" y="1430309"/>
            <a:ext cx="1589320" cy="1831524"/>
          </a:xfrm>
          <a:custGeom>
            <a:avLst/>
            <a:gdLst/>
            <a:ahLst/>
            <a:cxnLst/>
            <a:rect l="l" t="t" r="r" b="b"/>
            <a:pathLst>
              <a:path w="1589320" h="1831524">
                <a:moveTo>
                  <a:pt x="0" y="0"/>
                </a:moveTo>
                <a:lnTo>
                  <a:pt x="1589320" y="0"/>
                </a:lnTo>
                <a:lnTo>
                  <a:pt x="1589320" y="1831525"/>
                </a:lnTo>
                <a:lnTo>
                  <a:pt x="0" y="18315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B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6324" y="4762996"/>
            <a:ext cx="7890191" cy="4126879"/>
            <a:chOff x="0" y="0"/>
            <a:chExt cx="2555240" cy="133649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55240" cy="1336491"/>
            </a:xfrm>
            <a:custGeom>
              <a:avLst/>
              <a:gdLst/>
              <a:ahLst/>
              <a:cxnLst/>
              <a:rect l="l" t="t" r="r" b="b"/>
              <a:pathLst>
                <a:path w="2555240" h="1336491">
                  <a:moveTo>
                    <a:pt x="50042" y="0"/>
                  </a:moveTo>
                  <a:lnTo>
                    <a:pt x="2505199" y="0"/>
                  </a:lnTo>
                  <a:cubicBezTo>
                    <a:pt x="2518471" y="0"/>
                    <a:pt x="2531199" y="5272"/>
                    <a:pt x="2540583" y="14657"/>
                  </a:cubicBezTo>
                  <a:cubicBezTo>
                    <a:pt x="2549968" y="24041"/>
                    <a:pt x="2555240" y="36770"/>
                    <a:pt x="2555240" y="50042"/>
                  </a:cubicBezTo>
                  <a:lnTo>
                    <a:pt x="2555240" y="1286449"/>
                  </a:lnTo>
                  <a:cubicBezTo>
                    <a:pt x="2555240" y="1314086"/>
                    <a:pt x="2532836" y="1336491"/>
                    <a:pt x="2505199" y="1336491"/>
                  </a:cubicBezTo>
                  <a:lnTo>
                    <a:pt x="50042" y="1336491"/>
                  </a:lnTo>
                  <a:cubicBezTo>
                    <a:pt x="36770" y="1336491"/>
                    <a:pt x="24041" y="1331218"/>
                    <a:pt x="14657" y="1321834"/>
                  </a:cubicBezTo>
                  <a:cubicBezTo>
                    <a:pt x="5272" y="1312449"/>
                    <a:pt x="0" y="1299721"/>
                    <a:pt x="0" y="1286449"/>
                  </a:cubicBezTo>
                  <a:lnTo>
                    <a:pt x="0" y="50042"/>
                  </a:lnTo>
                  <a:cubicBezTo>
                    <a:pt x="0" y="36770"/>
                    <a:pt x="5272" y="24041"/>
                    <a:pt x="14657" y="14657"/>
                  </a:cubicBezTo>
                  <a:cubicBezTo>
                    <a:pt x="24041" y="5272"/>
                    <a:pt x="36770" y="0"/>
                    <a:pt x="50042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2555240" cy="1403166"/>
            </a:xfrm>
            <a:prstGeom prst="rect">
              <a:avLst/>
            </a:prstGeom>
          </p:spPr>
          <p:txBody>
            <a:bodyPr lIns="38523" tIns="38523" rIns="38523" bIns="38523" rtlCol="0" anchor="ctr"/>
            <a:lstStyle/>
            <a:p>
              <a:pPr algn="l">
                <a:lnSpc>
                  <a:spcPts val="461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307331" y="1018621"/>
            <a:ext cx="20830043" cy="2654900"/>
            <a:chOff x="0" y="0"/>
            <a:chExt cx="5115576" cy="65200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15577" cy="652008"/>
            </a:xfrm>
            <a:custGeom>
              <a:avLst/>
              <a:gdLst/>
              <a:ahLst/>
              <a:cxnLst/>
              <a:rect l="l" t="t" r="r" b="b"/>
              <a:pathLst>
                <a:path w="5115577" h="652008">
                  <a:moveTo>
                    <a:pt x="18955" y="0"/>
                  </a:moveTo>
                  <a:lnTo>
                    <a:pt x="5096621" y="0"/>
                  </a:lnTo>
                  <a:cubicBezTo>
                    <a:pt x="5101649" y="0"/>
                    <a:pt x="5106470" y="1997"/>
                    <a:pt x="5110025" y="5552"/>
                  </a:cubicBezTo>
                  <a:cubicBezTo>
                    <a:pt x="5113579" y="9107"/>
                    <a:pt x="5115577" y="13928"/>
                    <a:pt x="5115577" y="18955"/>
                  </a:cubicBezTo>
                  <a:lnTo>
                    <a:pt x="5115577" y="633052"/>
                  </a:lnTo>
                  <a:cubicBezTo>
                    <a:pt x="5115577" y="638080"/>
                    <a:pt x="5113579" y="642901"/>
                    <a:pt x="5110025" y="646456"/>
                  </a:cubicBezTo>
                  <a:cubicBezTo>
                    <a:pt x="5106470" y="650010"/>
                    <a:pt x="5101649" y="652008"/>
                    <a:pt x="5096621" y="652008"/>
                  </a:cubicBezTo>
                  <a:lnTo>
                    <a:pt x="18955" y="652008"/>
                  </a:lnTo>
                  <a:cubicBezTo>
                    <a:pt x="13928" y="652008"/>
                    <a:pt x="9107" y="650010"/>
                    <a:pt x="5552" y="646456"/>
                  </a:cubicBezTo>
                  <a:cubicBezTo>
                    <a:pt x="1997" y="642901"/>
                    <a:pt x="0" y="638080"/>
                    <a:pt x="0" y="633052"/>
                  </a:cubicBezTo>
                  <a:lnTo>
                    <a:pt x="0" y="18955"/>
                  </a:lnTo>
                  <a:cubicBezTo>
                    <a:pt x="0" y="13928"/>
                    <a:pt x="1997" y="9107"/>
                    <a:pt x="5552" y="5552"/>
                  </a:cubicBezTo>
                  <a:cubicBezTo>
                    <a:pt x="9107" y="1997"/>
                    <a:pt x="13928" y="0"/>
                    <a:pt x="18955" y="0"/>
                  </a:cubicBezTo>
                  <a:close/>
                </a:path>
              </a:pathLst>
            </a:custGeom>
            <a:solidFill>
              <a:srgbClr val="825FC8"/>
            </a:solidFill>
            <a:ln w="571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190500"/>
              <a:ext cx="5115576" cy="842508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124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565961" y="3203917"/>
            <a:ext cx="9156078" cy="939209"/>
            <a:chOff x="0" y="0"/>
            <a:chExt cx="2248609" cy="23065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48609" cy="230657"/>
            </a:xfrm>
            <a:custGeom>
              <a:avLst/>
              <a:gdLst/>
              <a:ahLst/>
              <a:cxnLst/>
              <a:rect l="l" t="t" r="r" b="b"/>
              <a:pathLst>
                <a:path w="2248609" h="230657">
                  <a:moveTo>
                    <a:pt x="43123" y="0"/>
                  </a:moveTo>
                  <a:lnTo>
                    <a:pt x="2205486" y="0"/>
                  </a:lnTo>
                  <a:cubicBezTo>
                    <a:pt x="2229302" y="0"/>
                    <a:pt x="2248609" y="19307"/>
                    <a:pt x="2248609" y="43123"/>
                  </a:cubicBezTo>
                  <a:lnTo>
                    <a:pt x="2248609" y="187534"/>
                  </a:lnTo>
                  <a:cubicBezTo>
                    <a:pt x="2248609" y="211350"/>
                    <a:pt x="2229302" y="230657"/>
                    <a:pt x="2205486" y="230657"/>
                  </a:cubicBezTo>
                  <a:lnTo>
                    <a:pt x="43123" y="230657"/>
                  </a:lnTo>
                  <a:cubicBezTo>
                    <a:pt x="19307" y="230657"/>
                    <a:pt x="0" y="211350"/>
                    <a:pt x="0" y="187534"/>
                  </a:cubicBezTo>
                  <a:lnTo>
                    <a:pt x="0" y="43123"/>
                  </a:lnTo>
                  <a:cubicBezTo>
                    <a:pt x="0" y="19307"/>
                    <a:pt x="19307" y="0"/>
                    <a:pt x="43123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85725"/>
              <a:ext cx="2248609" cy="3163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879"/>
                </a:lnSpc>
              </a:pPr>
              <a:r>
                <a:rPr lang="en-US" sz="4199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Using Combo Chart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931584" y="4762996"/>
            <a:ext cx="8650580" cy="4126879"/>
            <a:chOff x="0" y="0"/>
            <a:chExt cx="2801492" cy="133649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01492" cy="1336491"/>
            </a:xfrm>
            <a:custGeom>
              <a:avLst/>
              <a:gdLst/>
              <a:ahLst/>
              <a:cxnLst/>
              <a:rect l="l" t="t" r="r" b="b"/>
              <a:pathLst>
                <a:path w="2801492" h="1336491">
                  <a:moveTo>
                    <a:pt x="45643" y="0"/>
                  </a:moveTo>
                  <a:lnTo>
                    <a:pt x="2755849" y="0"/>
                  </a:lnTo>
                  <a:cubicBezTo>
                    <a:pt x="2781057" y="0"/>
                    <a:pt x="2801492" y="20435"/>
                    <a:pt x="2801492" y="45643"/>
                  </a:cubicBezTo>
                  <a:lnTo>
                    <a:pt x="2801492" y="1290848"/>
                  </a:lnTo>
                  <a:cubicBezTo>
                    <a:pt x="2801492" y="1302953"/>
                    <a:pt x="2796683" y="1314562"/>
                    <a:pt x="2788123" y="1323122"/>
                  </a:cubicBezTo>
                  <a:cubicBezTo>
                    <a:pt x="2779564" y="1331682"/>
                    <a:pt x="2767954" y="1336491"/>
                    <a:pt x="2755849" y="1336491"/>
                  </a:cubicBezTo>
                  <a:lnTo>
                    <a:pt x="45643" y="1336491"/>
                  </a:lnTo>
                  <a:cubicBezTo>
                    <a:pt x="33538" y="1336491"/>
                    <a:pt x="21928" y="1331682"/>
                    <a:pt x="13369" y="1323122"/>
                  </a:cubicBezTo>
                  <a:cubicBezTo>
                    <a:pt x="4809" y="1314562"/>
                    <a:pt x="0" y="1302953"/>
                    <a:pt x="0" y="1290848"/>
                  </a:cubicBezTo>
                  <a:lnTo>
                    <a:pt x="0" y="45643"/>
                  </a:lnTo>
                  <a:cubicBezTo>
                    <a:pt x="0" y="33538"/>
                    <a:pt x="4809" y="21928"/>
                    <a:pt x="13369" y="13369"/>
                  </a:cubicBezTo>
                  <a:cubicBezTo>
                    <a:pt x="21928" y="4809"/>
                    <a:pt x="33538" y="0"/>
                    <a:pt x="45643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2801492" cy="1403166"/>
            </a:xfrm>
            <a:prstGeom prst="rect">
              <a:avLst/>
            </a:prstGeom>
          </p:spPr>
          <p:txBody>
            <a:bodyPr lIns="38523" tIns="38523" rIns="38523" bIns="38523" rtlCol="0" anchor="ctr"/>
            <a:lstStyle/>
            <a:p>
              <a:pPr algn="l">
                <a:lnSpc>
                  <a:spcPts val="461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5916732" y="6419532"/>
            <a:ext cx="1785611" cy="907686"/>
          </a:xfrm>
          <a:custGeom>
            <a:avLst/>
            <a:gdLst/>
            <a:ahLst/>
            <a:cxnLst/>
            <a:rect l="l" t="t" r="r" b="b"/>
            <a:pathLst>
              <a:path w="1785611" h="907686">
                <a:moveTo>
                  <a:pt x="0" y="0"/>
                </a:moveTo>
                <a:lnTo>
                  <a:pt x="1785611" y="0"/>
                </a:lnTo>
                <a:lnTo>
                  <a:pt x="1785611" y="907686"/>
                </a:lnTo>
                <a:lnTo>
                  <a:pt x="0" y="9076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2561865" y="6466472"/>
            <a:ext cx="1538603" cy="813806"/>
          </a:xfrm>
          <a:custGeom>
            <a:avLst/>
            <a:gdLst/>
            <a:ahLst/>
            <a:cxnLst/>
            <a:rect l="l" t="t" r="r" b="b"/>
            <a:pathLst>
              <a:path w="1538603" h="813806">
                <a:moveTo>
                  <a:pt x="0" y="0"/>
                </a:moveTo>
                <a:lnTo>
                  <a:pt x="1538603" y="0"/>
                </a:lnTo>
                <a:lnTo>
                  <a:pt x="1538603" y="813806"/>
                </a:lnTo>
                <a:lnTo>
                  <a:pt x="0" y="8138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537948" y="5288548"/>
            <a:ext cx="7767650" cy="3457090"/>
          </a:xfrm>
          <a:custGeom>
            <a:avLst/>
            <a:gdLst/>
            <a:ahLst/>
            <a:cxnLst/>
            <a:rect l="l" t="t" r="r" b="b"/>
            <a:pathLst>
              <a:path w="7767650" h="3457090">
                <a:moveTo>
                  <a:pt x="0" y="0"/>
                </a:moveTo>
                <a:lnTo>
                  <a:pt x="7767650" y="0"/>
                </a:lnTo>
                <a:lnTo>
                  <a:pt x="7767650" y="3457091"/>
                </a:lnTo>
                <a:lnTo>
                  <a:pt x="0" y="34570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028700" y="1832365"/>
            <a:ext cx="17741802" cy="913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20"/>
              </a:lnSpc>
              <a:spcBef>
                <a:spcPct val="0"/>
              </a:spcBef>
            </a:pPr>
            <a:r>
              <a:rPr lang="en-US" sz="5300" spc="805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COMMUTE DISTANCE VS INCOME VS PURCHASE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716515" y="5076825"/>
            <a:ext cx="8693790" cy="4050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1584" lvl="1" indent="-355792" algn="l">
              <a:lnSpc>
                <a:spcPts val="4614"/>
              </a:lnSpc>
              <a:buFont typeface="Arial"/>
              <a:buChar char="•"/>
            </a:pPr>
            <a:r>
              <a:rPr lang="en-US" sz="32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Highest buyers are 0–1 miles commuters(in case of adult). and 5-10 miles (in case of seniors).</a:t>
            </a:r>
          </a:p>
          <a:p>
            <a:pPr marL="711584" lvl="1" indent="-355792" algn="l">
              <a:lnSpc>
                <a:spcPts val="4614"/>
              </a:lnSpc>
              <a:buFont typeface="Arial"/>
              <a:buChar char="•"/>
            </a:pPr>
            <a:r>
              <a:rPr lang="en-US" sz="32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Lowest bike purchase among 10+ miles commuters(in case of adult) and 2-5 miles(in case of senior).</a:t>
            </a:r>
          </a:p>
          <a:p>
            <a:pPr algn="l">
              <a:lnSpc>
                <a:spcPts val="4614"/>
              </a:lnSpc>
            </a:pPr>
            <a:endParaRPr lang="en-US" sz="3295">
              <a:solidFill>
                <a:srgbClr val="000000"/>
              </a:solidFill>
              <a:latin typeface="TT Rounds Condensed"/>
              <a:ea typeface="TT Rounds Condensed"/>
              <a:cs typeface="TT Rounds Condensed"/>
              <a:sym typeface="TT Rounds Condensed"/>
            </a:endParaRPr>
          </a:p>
        </p:txBody>
      </p:sp>
      <p:sp>
        <p:nvSpPr>
          <p:cNvPr id="19" name="Freeform 19"/>
          <p:cNvSpPr/>
          <p:nvPr/>
        </p:nvSpPr>
        <p:spPr>
          <a:xfrm>
            <a:off x="546198" y="1581452"/>
            <a:ext cx="1458165" cy="1680382"/>
          </a:xfrm>
          <a:custGeom>
            <a:avLst/>
            <a:gdLst/>
            <a:ahLst/>
            <a:cxnLst/>
            <a:rect l="l" t="t" r="r" b="b"/>
            <a:pathLst>
              <a:path w="1458165" h="1680382">
                <a:moveTo>
                  <a:pt x="0" y="0"/>
                </a:moveTo>
                <a:lnTo>
                  <a:pt x="1458166" y="0"/>
                </a:lnTo>
                <a:lnTo>
                  <a:pt x="1458166" y="1680382"/>
                </a:lnTo>
                <a:lnTo>
                  <a:pt x="0" y="16803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B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6324" y="4762996"/>
            <a:ext cx="7890191" cy="4126879"/>
            <a:chOff x="0" y="0"/>
            <a:chExt cx="2555240" cy="133649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55240" cy="1336491"/>
            </a:xfrm>
            <a:custGeom>
              <a:avLst/>
              <a:gdLst/>
              <a:ahLst/>
              <a:cxnLst/>
              <a:rect l="l" t="t" r="r" b="b"/>
              <a:pathLst>
                <a:path w="2555240" h="1336491">
                  <a:moveTo>
                    <a:pt x="50042" y="0"/>
                  </a:moveTo>
                  <a:lnTo>
                    <a:pt x="2505199" y="0"/>
                  </a:lnTo>
                  <a:cubicBezTo>
                    <a:pt x="2518471" y="0"/>
                    <a:pt x="2531199" y="5272"/>
                    <a:pt x="2540583" y="14657"/>
                  </a:cubicBezTo>
                  <a:cubicBezTo>
                    <a:pt x="2549968" y="24041"/>
                    <a:pt x="2555240" y="36770"/>
                    <a:pt x="2555240" y="50042"/>
                  </a:cubicBezTo>
                  <a:lnTo>
                    <a:pt x="2555240" y="1286449"/>
                  </a:lnTo>
                  <a:cubicBezTo>
                    <a:pt x="2555240" y="1314086"/>
                    <a:pt x="2532836" y="1336491"/>
                    <a:pt x="2505199" y="1336491"/>
                  </a:cubicBezTo>
                  <a:lnTo>
                    <a:pt x="50042" y="1336491"/>
                  </a:lnTo>
                  <a:cubicBezTo>
                    <a:pt x="36770" y="1336491"/>
                    <a:pt x="24041" y="1331218"/>
                    <a:pt x="14657" y="1321834"/>
                  </a:cubicBezTo>
                  <a:cubicBezTo>
                    <a:pt x="5272" y="1312449"/>
                    <a:pt x="0" y="1299721"/>
                    <a:pt x="0" y="1286449"/>
                  </a:cubicBezTo>
                  <a:lnTo>
                    <a:pt x="0" y="50042"/>
                  </a:lnTo>
                  <a:cubicBezTo>
                    <a:pt x="0" y="36770"/>
                    <a:pt x="5272" y="24041"/>
                    <a:pt x="14657" y="14657"/>
                  </a:cubicBezTo>
                  <a:cubicBezTo>
                    <a:pt x="24041" y="5272"/>
                    <a:pt x="36770" y="0"/>
                    <a:pt x="50042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2555240" cy="1403166"/>
            </a:xfrm>
            <a:prstGeom prst="rect">
              <a:avLst/>
            </a:prstGeom>
          </p:spPr>
          <p:txBody>
            <a:bodyPr lIns="38523" tIns="38523" rIns="38523" bIns="38523" rtlCol="0" anchor="ctr"/>
            <a:lstStyle/>
            <a:p>
              <a:pPr algn="l">
                <a:lnSpc>
                  <a:spcPts val="461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307331" y="1018621"/>
            <a:ext cx="20830043" cy="2654900"/>
            <a:chOff x="0" y="0"/>
            <a:chExt cx="5115576" cy="65200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15577" cy="652008"/>
            </a:xfrm>
            <a:custGeom>
              <a:avLst/>
              <a:gdLst/>
              <a:ahLst/>
              <a:cxnLst/>
              <a:rect l="l" t="t" r="r" b="b"/>
              <a:pathLst>
                <a:path w="5115577" h="652008">
                  <a:moveTo>
                    <a:pt x="18955" y="0"/>
                  </a:moveTo>
                  <a:lnTo>
                    <a:pt x="5096621" y="0"/>
                  </a:lnTo>
                  <a:cubicBezTo>
                    <a:pt x="5101649" y="0"/>
                    <a:pt x="5106470" y="1997"/>
                    <a:pt x="5110025" y="5552"/>
                  </a:cubicBezTo>
                  <a:cubicBezTo>
                    <a:pt x="5113579" y="9107"/>
                    <a:pt x="5115577" y="13928"/>
                    <a:pt x="5115577" y="18955"/>
                  </a:cubicBezTo>
                  <a:lnTo>
                    <a:pt x="5115577" y="633052"/>
                  </a:lnTo>
                  <a:cubicBezTo>
                    <a:pt x="5115577" y="638080"/>
                    <a:pt x="5113579" y="642901"/>
                    <a:pt x="5110025" y="646456"/>
                  </a:cubicBezTo>
                  <a:cubicBezTo>
                    <a:pt x="5106470" y="650010"/>
                    <a:pt x="5101649" y="652008"/>
                    <a:pt x="5096621" y="652008"/>
                  </a:cubicBezTo>
                  <a:lnTo>
                    <a:pt x="18955" y="652008"/>
                  </a:lnTo>
                  <a:cubicBezTo>
                    <a:pt x="13928" y="652008"/>
                    <a:pt x="9107" y="650010"/>
                    <a:pt x="5552" y="646456"/>
                  </a:cubicBezTo>
                  <a:cubicBezTo>
                    <a:pt x="1997" y="642901"/>
                    <a:pt x="0" y="638080"/>
                    <a:pt x="0" y="633052"/>
                  </a:cubicBezTo>
                  <a:lnTo>
                    <a:pt x="0" y="18955"/>
                  </a:lnTo>
                  <a:cubicBezTo>
                    <a:pt x="0" y="13928"/>
                    <a:pt x="1997" y="9107"/>
                    <a:pt x="5552" y="5552"/>
                  </a:cubicBezTo>
                  <a:cubicBezTo>
                    <a:pt x="9107" y="1997"/>
                    <a:pt x="13928" y="0"/>
                    <a:pt x="18955" y="0"/>
                  </a:cubicBezTo>
                  <a:close/>
                </a:path>
              </a:pathLst>
            </a:custGeom>
            <a:solidFill>
              <a:srgbClr val="825FC8"/>
            </a:solidFill>
            <a:ln w="571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190500"/>
              <a:ext cx="5115576" cy="842508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124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565961" y="3203917"/>
            <a:ext cx="9156078" cy="939209"/>
            <a:chOff x="0" y="0"/>
            <a:chExt cx="2248609" cy="23065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48609" cy="230657"/>
            </a:xfrm>
            <a:custGeom>
              <a:avLst/>
              <a:gdLst/>
              <a:ahLst/>
              <a:cxnLst/>
              <a:rect l="l" t="t" r="r" b="b"/>
              <a:pathLst>
                <a:path w="2248609" h="230657">
                  <a:moveTo>
                    <a:pt x="43123" y="0"/>
                  </a:moveTo>
                  <a:lnTo>
                    <a:pt x="2205486" y="0"/>
                  </a:lnTo>
                  <a:cubicBezTo>
                    <a:pt x="2229302" y="0"/>
                    <a:pt x="2248609" y="19307"/>
                    <a:pt x="2248609" y="43123"/>
                  </a:cubicBezTo>
                  <a:lnTo>
                    <a:pt x="2248609" y="187534"/>
                  </a:lnTo>
                  <a:cubicBezTo>
                    <a:pt x="2248609" y="211350"/>
                    <a:pt x="2229302" y="230657"/>
                    <a:pt x="2205486" y="230657"/>
                  </a:cubicBezTo>
                  <a:lnTo>
                    <a:pt x="43123" y="230657"/>
                  </a:lnTo>
                  <a:cubicBezTo>
                    <a:pt x="19307" y="230657"/>
                    <a:pt x="0" y="211350"/>
                    <a:pt x="0" y="187534"/>
                  </a:cubicBezTo>
                  <a:lnTo>
                    <a:pt x="0" y="43123"/>
                  </a:lnTo>
                  <a:cubicBezTo>
                    <a:pt x="0" y="19307"/>
                    <a:pt x="19307" y="0"/>
                    <a:pt x="43123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85725"/>
              <a:ext cx="2248609" cy="3163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879"/>
                </a:lnSpc>
              </a:pPr>
              <a:r>
                <a:rPr lang="en-US" sz="4199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Using Column Chart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931584" y="4762996"/>
            <a:ext cx="8650580" cy="4126879"/>
            <a:chOff x="0" y="0"/>
            <a:chExt cx="2801492" cy="133649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01492" cy="1336491"/>
            </a:xfrm>
            <a:custGeom>
              <a:avLst/>
              <a:gdLst/>
              <a:ahLst/>
              <a:cxnLst/>
              <a:rect l="l" t="t" r="r" b="b"/>
              <a:pathLst>
                <a:path w="2801492" h="1336491">
                  <a:moveTo>
                    <a:pt x="45643" y="0"/>
                  </a:moveTo>
                  <a:lnTo>
                    <a:pt x="2755849" y="0"/>
                  </a:lnTo>
                  <a:cubicBezTo>
                    <a:pt x="2781057" y="0"/>
                    <a:pt x="2801492" y="20435"/>
                    <a:pt x="2801492" y="45643"/>
                  </a:cubicBezTo>
                  <a:lnTo>
                    <a:pt x="2801492" y="1290848"/>
                  </a:lnTo>
                  <a:cubicBezTo>
                    <a:pt x="2801492" y="1302953"/>
                    <a:pt x="2796683" y="1314562"/>
                    <a:pt x="2788123" y="1323122"/>
                  </a:cubicBezTo>
                  <a:cubicBezTo>
                    <a:pt x="2779564" y="1331682"/>
                    <a:pt x="2767954" y="1336491"/>
                    <a:pt x="2755849" y="1336491"/>
                  </a:cubicBezTo>
                  <a:lnTo>
                    <a:pt x="45643" y="1336491"/>
                  </a:lnTo>
                  <a:cubicBezTo>
                    <a:pt x="33538" y="1336491"/>
                    <a:pt x="21928" y="1331682"/>
                    <a:pt x="13369" y="1323122"/>
                  </a:cubicBezTo>
                  <a:cubicBezTo>
                    <a:pt x="4809" y="1314562"/>
                    <a:pt x="0" y="1302953"/>
                    <a:pt x="0" y="1290848"/>
                  </a:cubicBezTo>
                  <a:lnTo>
                    <a:pt x="0" y="45643"/>
                  </a:lnTo>
                  <a:cubicBezTo>
                    <a:pt x="0" y="33538"/>
                    <a:pt x="4809" y="21928"/>
                    <a:pt x="13369" y="13369"/>
                  </a:cubicBezTo>
                  <a:cubicBezTo>
                    <a:pt x="21928" y="4809"/>
                    <a:pt x="33538" y="0"/>
                    <a:pt x="45643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2801492" cy="1403166"/>
            </a:xfrm>
            <a:prstGeom prst="rect">
              <a:avLst/>
            </a:prstGeom>
          </p:spPr>
          <p:txBody>
            <a:bodyPr lIns="38523" tIns="38523" rIns="38523" bIns="38523" rtlCol="0" anchor="ctr"/>
            <a:lstStyle/>
            <a:p>
              <a:pPr algn="l">
                <a:lnSpc>
                  <a:spcPts val="461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5916732" y="6419532"/>
            <a:ext cx="1785611" cy="907686"/>
          </a:xfrm>
          <a:custGeom>
            <a:avLst/>
            <a:gdLst/>
            <a:ahLst/>
            <a:cxnLst/>
            <a:rect l="l" t="t" r="r" b="b"/>
            <a:pathLst>
              <a:path w="1785611" h="907686">
                <a:moveTo>
                  <a:pt x="0" y="0"/>
                </a:moveTo>
                <a:lnTo>
                  <a:pt x="1785611" y="0"/>
                </a:lnTo>
                <a:lnTo>
                  <a:pt x="1785611" y="907686"/>
                </a:lnTo>
                <a:lnTo>
                  <a:pt x="0" y="9076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2561865" y="6466472"/>
            <a:ext cx="1538603" cy="813806"/>
          </a:xfrm>
          <a:custGeom>
            <a:avLst/>
            <a:gdLst/>
            <a:ahLst/>
            <a:cxnLst/>
            <a:rect l="l" t="t" r="r" b="b"/>
            <a:pathLst>
              <a:path w="1538603" h="813806">
                <a:moveTo>
                  <a:pt x="0" y="0"/>
                </a:moveTo>
                <a:lnTo>
                  <a:pt x="1538603" y="0"/>
                </a:lnTo>
                <a:lnTo>
                  <a:pt x="1538603" y="813806"/>
                </a:lnTo>
                <a:lnTo>
                  <a:pt x="0" y="8138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191282" y="4762996"/>
            <a:ext cx="6749358" cy="3908282"/>
          </a:xfrm>
          <a:custGeom>
            <a:avLst/>
            <a:gdLst/>
            <a:ahLst/>
            <a:cxnLst/>
            <a:rect l="l" t="t" r="r" b="b"/>
            <a:pathLst>
              <a:path w="6749358" h="3908282">
                <a:moveTo>
                  <a:pt x="0" y="0"/>
                </a:moveTo>
                <a:lnTo>
                  <a:pt x="6749358" y="0"/>
                </a:lnTo>
                <a:lnTo>
                  <a:pt x="6749358" y="3908282"/>
                </a:lnTo>
                <a:lnTo>
                  <a:pt x="0" y="39082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546198" y="1453896"/>
            <a:ext cx="17741802" cy="1031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60"/>
              </a:lnSpc>
              <a:spcBef>
                <a:spcPct val="0"/>
              </a:spcBef>
            </a:pPr>
            <a:r>
              <a:rPr lang="en-US" sz="5900" spc="896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AGE GROUP VS BUYERS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17099" y="5048250"/>
            <a:ext cx="7406182" cy="3932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49068" lvl="1" indent="-474534" algn="l">
              <a:lnSpc>
                <a:spcPts val="6154"/>
              </a:lnSpc>
              <a:buFont typeface="Arial"/>
              <a:buChar char="•"/>
            </a:pPr>
            <a:r>
              <a:rPr lang="en-US" sz="43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Adults (20–50) are the major buyers</a:t>
            </a:r>
          </a:p>
          <a:p>
            <a:pPr marL="949068" lvl="1" indent="-474534" algn="l">
              <a:lnSpc>
                <a:spcPts val="6154"/>
              </a:lnSpc>
              <a:buFont typeface="Arial"/>
              <a:buChar char="•"/>
            </a:pPr>
            <a:r>
              <a:rPr lang="en-US" sz="43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Seniors purchase significantly less.</a:t>
            </a:r>
          </a:p>
          <a:p>
            <a:pPr algn="l">
              <a:lnSpc>
                <a:spcPts val="6574"/>
              </a:lnSpc>
            </a:pPr>
            <a:endParaRPr lang="en-US" sz="4395">
              <a:solidFill>
                <a:srgbClr val="000000"/>
              </a:solidFill>
              <a:latin typeface="TT Rounds Condensed"/>
              <a:ea typeface="TT Rounds Condensed"/>
              <a:cs typeface="TT Rounds Condensed"/>
              <a:sym typeface="TT Rounds Condensed"/>
            </a:endParaRPr>
          </a:p>
        </p:txBody>
      </p:sp>
      <p:sp>
        <p:nvSpPr>
          <p:cNvPr id="19" name="Freeform 19"/>
          <p:cNvSpPr/>
          <p:nvPr/>
        </p:nvSpPr>
        <p:spPr>
          <a:xfrm>
            <a:off x="3107795" y="1195992"/>
            <a:ext cx="1458165" cy="1680382"/>
          </a:xfrm>
          <a:custGeom>
            <a:avLst/>
            <a:gdLst/>
            <a:ahLst/>
            <a:cxnLst/>
            <a:rect l="l" t="t" r="r" b="b"/>
            <a:pathLst>
              <a:path w="1458165" h="1680382">
                <a:moveTo>
                  <a:pt x="0" y="0"/>
                </a:moveTo>
                <a:lnTo>
                  <a:pt x="1458166" y="0"/>
                </a:lnTo>
                <a:lnTo>
                  <a:pt x="1458166" y="1680382"/>
                </a:lnTo>
                <a:lnTo>
                  <a:pt x="0" y="16803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B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94802" y="4762996"/>
            <a:ext cx="6230670" cy="4126879"/>
            <a:chOff x="0" y="0"/>
            <a:chExt cx="2017804" cy="133649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17804" cy="1336491"/>
            </a:xfrm>
            <a:custGeom>
              <a:avLst/>
              <a:gdLst/>
              <a:ahLst/>
              <a:cxnLst/>
              <a:rect l="l" t="t" r="r" b="b"/>
              <a:pathLst>
                <a:path w="2017804" h="1336491">
                  <a:moveTo>
                    <a:pt x="63370" y="0"/>
                  </a:moveTo>
                  <a:lnTo>
                    <a:pt x="1954434" y="0"/>
                  </a:lnTo>
                  <a:cubicBezTo>
                    <a:pt x="1971241" y="0"/>
                    <a:pt x="1987359" y="6676"/>
                    <a:pt x="1999243" y="18561"/>
                  </a:cubicBezTo>
                  <a:cubicBezTo>
                    <a:pt x="2011127" y="30445"/>
                    <a:pt x="2017804" y="46563"/>
                    <a:pt x="2017804" y="63370"/>
                  </a:cubicBezTo>
                  <a:lnTo>
                    <a:pt x="2017804" y="1273121"/>
                  </a:lnTo>
                  <a:cubicBezTo>
                    <a:pt x="2017804" y="1308119"/>
                    <a:pt x="1989432" y="1336491"/>
                    <a:pt x="1954434" y="1336491"/>
                  </a:cubicBezTo>
                  <a:lnTo>
                    <a:pt x="63370" y="1336491"/>
                  </a:lnTo>
                  <a:cubicBezTo>
                    <a:pt x="46563" y="1336491"/>
                    <a:pt x="30445" y="1329814"/>
                    <a:pt x="18561" y="1317930"/>
                  </a:cubicBezTo>
                  <a:cubicBezTo>
                    <a:pt x="6676" y="1306046"/>
                    <a:pt x="0" y="1289927"/>
                    <a:pt x="0" y="1273121"/>
                  </a:cubicBezTo>
                  <a:lnTo>
                    <a:pt x="0" y="63370"/>
                  </a:lnTo>
                  <a:cubicBezTo>
                    <a:pt x="0" y="46563"/>
                    <a:pt x="6676" y="30445"/>
                    <a:pt x="18561" y="18561"/>
                  </a:cubicBezTo>
                  <a:cubicBezTo>
                    <a:pt x="30445" y="6676"/>
                    <a:pt x="46563" y="0"/>
                    <a:pt x="63370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2017804" cy="1403166"/>
            </a:xfrm>
            <a:prstGeom prst="rect">
              <a:avLst/>
            </a:prstGeom>
          </p:spPr>
          <p:txBody>
            <a:bodyPr lIns="38523" tIns="38523" rIns="38523" bIns="38523" rtlCol="0" anchor="ctr"/>
            <a:lstStyle/>
            <a:p>
              <a:pPr algn="l">
                <a:lnSpc>
                  <a:spcPts val="461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307331" y="1018621"/>
            <a:ext cx="20830043" cy="2654900"/>
            <a:chOff x="0" y="0"/>
            <a:chExt cx="5115576" cy="65200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15577" cy="652008"/>
            </a:xfrm>
            <a:custGeom>
              <a:avLst/>
              <a:gdLst/>
              <a:ahLst/>
              <a:cxnLst/>
              <a:rect l="l" t="t" r="r" b="b"/>
              <a:pathLst>
                <a:path w="5115577" h="652008">
                  <a:moveTo>
                    <a:pt x="18955" y="0"/>
                  </a:moveTo>
                  <a:lnTo>
                    <a:pt x="5096621" y="0"/>
                  </a:lnTo>
                  <a:cubicBezTo>
                    <a:pt x="5101649" y="0"/>
                    <a:pt x="5106470" y="1997"/>
                    <a:pt x="5110025" y="5552"/>
                  </a:cubicBezTo>
                  <a:cubicBezTo>
                    <a:pt x="5113579" y="9107"/>
                    <a:pt x="5115577" y="13928"/>
                    <a:pt x="5115577" y="18955"/>
                  </a:cubicBezTo>
                  <a:lnTo>
                    <a:pt x="5115577" y="633052"/>
                  </a:lnTo>
                  <a:cubicBezTo>
                    <a:pt x="5115577" y="638080"/>
                    <a:pt x="5113579" y="642901"/>
                    <a:pt x="5110025" y="646456"/>
                  </a:cubicBezTo>
                  <a:cubicBezTo>
                    <a:pt x="5106470" y="650010"/>
                    <a:pt x="5101649" y="652008"/>
                    <a:pt x="5096621" y="652008"/>
                  </a:cubicBezTo>
                  <a:lnTo>
                    <a:pt x="18955" y="652008"/>
                  </a:lnTo>
                  <a:cubicBezTo>
                    <a:pt x="13928" y="652008"/>
                    <a:pt x="9107" y="650010"/>
                    <a:pt x="5552" y="646456"/>
                  </a:cubicBezTo>
                  <a:cubicBezTo>
                    <a:pt x="1997" y="642901"/>
                    <a:pt x="0" y="638080"/>
                    <a:pt x="0" y="633052"/>
                  </a:cubicBezTo>
                  <a:lnTo>
                    <a:pt x="0" y="18955"/>
                  </a:lnTo>
                  <a:cubicBezTo>
                    <a:pt x="0" y="13928"/>
                    <a:pt x="1997" y="9107"/>
                    <a:pt x="5552" y="5552"/>
                  </a:cubicBezTo>
                  <a:cubicBezTo>
                    <a:pt x="9107" y="1997"/>
                    <a:pt x="13928" y="0"/>
                    <a:pt x="18955" y="0"/>
                  </a:cubicBezTo>
                  <a:close/>
                </a:path>
              </a:pathLst>
            </a:custGeom>
            <a:solidFill>
              <a:srgbClr val="825FC8"/>
            </a:solidFill>
            <a:ln w="571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190500"/>
              <a:ext cx="5115576" cy="842508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124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565961" y="3203917"/>
            <a:ext cx="9156078" cy="939209"/>
            <a:chOff x="0" y="0"/>
            <a:chExt cx="2248609" cy="23065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48609" cy="230657"/>
            </a:xfrm>
            <a:custGeom>
              <a:avLst/>
              <a:gdLst/>
              <a:ahLst/>
              <a:cxnLst/>
              <a:rect l="l" t="t" r="r" b="b"/>
              <a:pathLst>
                <a:path w="2248609" h="230657">
                  <a:moveTo>
                    <a:pt x="43123" y="0"/>
                  </a:moveTo>
                  <a:lnTo>
                    <a:pt x="2205486" y="0"/>
                  </a:lnTo>
                  <a:cubicBezTo>
                    <a:pt x="2229302" y="0"/>
                    <a:pt x="2248609" y="19307"/>
                    <a:pt x="2248609" y="43123"/>
                  </a:cubicBezTo>
                  <a:lnTo>
                    <a:pt x="2248609" y="187534"/>
                  </a:lnTo>
                  <a:cubicBezTo>
                    <a:pt x="2248609" y="211350"/>
                    <a:pt x="2229302" y="230657"/>
                    <a:pt x="2205486" y="230657"/>
                  </a:cubicBezTo>
                  <a:lnTo>
                    <a:pt x="43123" y="230657"/>
                  </a:lnTo>
                  <a:cubicBezTo>
                    <a:pt x="19307" y="230657"/>
                    <a:pt x="0" y="211350"/>
                    <a:pt x="0" y="187534"/>
                  </a:cubicBezTo>
                  <a:lnTo>
                    <a:pt x="0" y="43123"/>
                  </a:lnTo>
                  <a:cubicBezTo>
                    <a:pt x="0" y="19307"/>
                    <a:pt x="19307" y="0"/>
                    <a:pt x="43123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85725"/>
              <a:ext cx="2248609" cy="3163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879"/>
                </a:lnSpc>
              </a:pPr>
              <a:r>
                <a:rPr lang="en-US" sz="4199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Using Bar Chart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306727" y="4762996"/>
            <a:ext cx="8186470" cy="4126879"/>
            <a:chOff x="0" y="0"/>
            <a:chExt cx="2651190" cy="133649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651190" cy="1336491"/>
            </a:xfrm>
            <a:custGeom>
              <a:avLst/>
              <a:gdLst/>
              <a:ahLst/>
              <a:cxnLst/>
              <a:rect l="l" t="t" r="r" b="b"/>
              <a:pathLst>
                <a:path w="2651190" h="1336491">
                  <a:moveTo>
                    <a:pt x="48231" y="0"/>
                  </a:moveTo>
                  <a:lnTo>
                    <a:pt x="2602960" y="0"/>
                  </a:lnTo>
                  <a:cubicBezTo>
                    <a:pt x="2615751" y="0"/>
                    <a:pt x="2628019" y="5081"/>
                    <a:pt x="2637064" y="14126"/>
                  </a:cubicBezTo>
                  <a:cubicBezTo>
                    <a:pt x="2646109" y="23171"/>
                    <a:pt x="2651190" y="35439"/>
                    <a:pt x="2651190" y="48231"/>
                  </a:cubicBezTo>
                  <a:lnTo>
                    <a:pt x="2651190" y="1288260"/>
                  </a:lnTo>
                  <a:cubicBezTo>
                    <a:pt x="2651190" y="1301052"/>
                    <a:pt x="2646109" y="1313319"/>
                    <a:pt x="2637064" y="1322364"/>
                  </a:cubicBezTo>
                  <a:cubicBezTo>
                    <a:pt x="2628019" y="1331409"/>
                    <a:pt x="2615751" y="1336491"/>
                    <a:pt x="2602960" y="1336491"/>
                  </a:cubicBezTo>
                  <a:lnTo>
                    <a:pt x="48231" y="1336491"/>
                  </a:lnTo>
                  <a:cubicBezTo>
                    <a:pt x="35439" y="1336491"/>
                    <a:pt x="23171" y="1331409"/>
                    <a:pt x="14126" y="1322364"/>
                  </a:cubicBezTo>
                  <a:cubicBezTo>
                    <a:pt x="5081" y="1313319"/>
                    <a:pt x="0" y="1301052"/>
                    <a:pt x="0" y="1288260"/>
                  </a:cubicBezTo>
                  <a:lnTo>
                    <a:pt x="0" y="48231"/>
                  </a:lnTo>
                  <a:cubicBezTo>
                    <a:pt x="0" y="35439"/>
                    <a:pt x="5081" y="23171"/>
                    <a:pt x="14126" y="14126"/>
                  </a:cubicBezTo>
                  <a:cubicBezTo>
                    <a:pt x="23171" y="5081"/>
                    <a:pt x="35439" y="0"/>
                    <a:pt x="4823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2651190" cy="1403166"/>
            </a:xfrm>
            <a:prstGeom prst="rect">
              <a:avLst/>
            </a:prstGeom>
          </p:spPr>
          <p:txBody>
            <a:bodyPr lIns="38523" tIns="38523" rIns="38523" bIns="38523" rtlCol="0" anchor="ctr"/>
            <a:lstStyle/>
            <a:p>
              <a:pPr algn="l">
                <a:lnSpc>
                  <a:spcPts val="461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5916732" y="6419532"/>
            <a:ext cx="1785611" cy="907686"/>
          </a:xfrm>
          <a:custGeom>
            <a:avLst/>
            <a:gdLst/>
            <a:ahLst/>
            <a:cxnLst/>
            <a:rect l="l" t="t" r="r" b="b"/>
            <a:pathLst>
              <a:path w="1785611" h="907686">
                <a:moveTo>
                  <a:pt x="0" y="0"/>
                </a:moveTo>
                <a:lnTo>
                  <a:pt x="1785611" y="0"/>
                </a:lnTo>
                <a:lnTo>
                  <a:pt x="1785611" y="907686"/>
                </a:lnTo>
                <a:lnTo>
                  <a:pt x="0" y="9076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2561865" y="6466472"/>
            <a:ext cx="1538603" cy="813806"/>
          </a:xfrm>
          <a:custGeom>
            <a:avLst/>
            <a:gdLst/>
            <a:ahLst/>
            <a:cxnLst/>
            <a:rect l="l" t="t" r="r" b="b"/>
            <a:pathLst>
              <a:path w="1538603" h="813806">
                <a:moveTo>
                  <a:pt x="0" y="0"/>
                </a:moveTo>
                <a:lnTo>
                  <a:pt x="1538603" y="0"/>
                </a:lnTo>
                <a:lnTo>
                  <a:pt x="1538603" y="813806"/>
                </a:lnTo>
                <a:lnTo>
                  <a:pt x="0" y="8138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958849" y="5143500"/>
            <a:ext cx="5214224" cy="3494260"/>
          </a:xfrm>
          <a:custGeom>
            <a:avLst/>
            <a:gdLst/>
            <a:ahLst/>
            <a:cxnLst/>
            <a:rect l="l" t="t" r="r" b="b"/>
            <a:pathLst>
              <a:path w="5214224" h="3494260">
                <a:moveTo>
                  <a:pt x="0" y="0"/>
                </a:moveTo>
                <a:lnTo>
                  <a:pt x="5214224" y="0"/>
                </a:lnTo>
                <a:lnTo>
                  <a:pt x="5214224" y="3494260"/>
                </a:lnTo>
                <a:lnTo>
                  <a:pt x="0" y="34942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15" r="-1915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546198" y="1434846"/>
            <a:ext cx="16701872" cy="1196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60"/>
              </a:lnSpc>
              <a:spcBef>
                <a:spcPct val="0"/>
              </a:spcBef>
            </a:pPr>
            <a:r>
              <a:rPr lang="en-US" sz="6900" spc="1048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OCCUPATION VS BUYERS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606170" y="5205729"/>
            <a:ext cx="7587585" cy="3073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4763" lvl="1" indent="-377382" algn="l">
              <a:lnSpc>
                <a:spcPts val="4894"/>
              </a:lnSpc>
              <a:buFont typeface="Arial"/>
              <a:buChar char="•"/>
            </a:pPr>
            <a:r>
              <a:rPr lang="en-US" sz="34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Top buyers: Skilled Manual &amp; Professional</a:t>
            </a:r>
          </a:p>
          <a:p>
            <a:pPr marL="754763" lvl="1" indent="-377382" algn="l">
              <a:lnSpc>
                <a:spcPts val="4894"/>
              </a:lnSpc>
              <a:buFont typeface="Arial"/>
              <a:buChar char="•"/>
            </a:pPr>
            <a:r>
              <a:rPr lang="en-US" sz="34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Lowest buyers: Manual labor</a:t>
            </a:r>
          </a:p>
          <a:p>
            <a:pPr algn="l">
              <a:lnSpc>
                <a:spcPts val="4894"/>
              </a:lnSpc>
            </a:pPr>
            <a:r>
              <a:rPr lang="en-US" sz="34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Hence, it Indicates bike purchases are linked to income stability</a:t>
            </a:r>
          </a:p>
        </p:txBody>
      </p:sp>
      <p:sp>
        <p:nvSpPr>
          <p:cNvPr id="19" name="Freeform 19"/>
          <p:cNvSpPr/>
          <p:nvPr/>
        </p:nvSpPr>
        <p:spPr>
          <a:xfrm>
            <a:off x="1873001" y="1269017"/>
            <a:ext cx="1458165" cy="1680382"/>
          </a:xfrm>
          <a:custGeom>
            <a:avLst/>
            <a:gdLst/>
            <a:ahLst/>
            <a:cxnLst/>
            <a:rect l="l" t="t" r="r" b="b"/>
            <a:pathLst>
              <a:path w="1458165" h="1680382">
                <a:moveTo>
                  <a:pt x="0" y="0"/>
                </a:moveTo>
                <a:lnTo>
                  <a:pt x="1458165" y="0"/>
                </a:lnTo>
                <a:lnTo>
                  <a:pt x="1458165" y="1680383"/>
                </a:lnTo>
                <a:lnTo>
                  <a:pt x="0" y="16803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A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42415" y="4476501"/>
            <a:ext cx="6230670" cy="4403848"/>
            <a:chOff x="0" y="0"/>
            <a:chExt cx="2017804" cy="142618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17804" cy="1426187"/>
            </a:xfrm>
            <a:custGeom>
              <a:avLst/>
              <a:gdLst/>
              <a:ahLst/>
              <a:cxnLst/>
              <a:rect l="l" t="t" r="r" b="b"/>
              <a:pathLst>
                <a:path w="2017804" h="1426187">
                  <a:moveTo>
                    <a:pt x="63370" y="0"/>
                  </a:moveTo>
                  <a:lnTo>
                    <a:pt x="1954434" y="0"/>
                  </a:lnTo>
                  <a:cubicBezTo>
                    <a:pt x="1971241" y="0"/>
                    <a:pt x="1987359" y="6676"/>
                    <a:pt x="1999243" y="18561"/>
                  </a:cubicBezTo>
                  <a:cubicBezTo>
                    <a:pt x="2011127" y="30445"/>
                    <a:pt x="2017804" y="46563"/>
                    <a:pt x="2017804" y="63370"/>
                  </a:cubicBezTo>
                  <a:lnTo>
                    <a:pt x="2017804" y="1362817"/>
                  </a:lnTo>
                  <a:cubicBezTo>
                    <a:pt x="2017804" y="1397816"/>
                    <a:pt x="1989432" y="1426187"/>
                    <a:pt x="1954434" y="1426187"/>
                  </a:cubicBezTo>
                  <a:lnTo>
                    <a:pt x="63370" y="1426187"/>
                  </a:lnTo>
                  <a:cubicBezTo>
                    <a:pt x="46563" y="1426187"/>
                    <a:pt x="30445" y="1419511"/>
                    <a:pt x="18561" y="1407627"/>
                  </a:cubicBezTo>
                  <a:cubicBezTo>
                    <a:pt x="6676" y="1395742"/>
                    <a:pt x="0" y="1379624"/>
                    <a:pt x="0" y="1362817"/>
                  </a:cubicBezTo>
                  <a:lnTo>
                    <a:pt x="0" y="63370"/>
                  </a:lnTo>
                  <a:cubicBezTo>
                    <a:pt x="0" y="46563"/>
                    <a:pt x="6676" y="30445"/>
                    <a:pt x="18561" y="18561"/>
                  </a:cubicBezTo>
                  <a:cubicBezTo>
                    <a:pt x="30445" y="6676"/>
                    <a:pt x="46563" y="0"/>
                    <a:pt x="63370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2017804" cy="1492862"/>
            </a:xfrm>
            <a:prstGeom prst="rect">
              <a:avLst/>
            </a:prstGeom>
          </p:spPr>
          <p:txBody>
            <a:bodyPr lIns="38523" tIns="38523" rIns="38523" bIns="38523" rtlCol="0" anchor="ctr"/>
            <a:lstStyle/>
            <a:p>
              <a:pPr algn="l">
                <a:lnSpc>
                  <a:spcPts val="461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169584" y="4476501"/>
            <a:ext cx="8186470" cy="4403848"/>
            <a:chOff x="0" y="0"/>
            <a:chExt cx="2651190" cy="142618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651190" cy="1426187"/>
            </a:xfrm>
            <a:custGeom>
              <a:avLst/>
              <a:gdLst/>
              <a:ahLst/>
              <a:cxnLst/>
              <a:rect l="l" t="t" r="r" b="b"/>
              <a:pathLst>
                <a:path w="2651190" h="1426187">
                  <a:moveTo>
                    <a:pt x="48231" y="0"/>
                  </a:moveTo>
                  <a:lnTo>
                    <a:pt x="2602960" y="0"/>
                  </a:lnTo>
                  <a:cubicBezTo>
                    <a:pt x="2615751" y="0"/>
                    <a:pt x="2628019" y="5081"/>
                    <a:pt x="2637064" y="14126"/>
                  </a:cubicBezTo>
                  <a:cubicBezTo>
                    <a:pt x="2646109" y="23171"/>
                    <a:pt x="2651190" y="35439"/>
                    <a:pt x="2651190" y="48231"/>
                  </a:cubicBezTo>
                  <a:lnTo>
                    <a:pt x="2651190" y="1377957"/>
                  </a:lnTo>
                  <a:cubicBezTo>
                    <a:pt x="2651190" y="1390748"/>
                    <a:pt x="2646109" y="1403016"/>
                    <a:pt x="2637064" y="1412061"/>
                  </a:cubicBezTo>
                  <a:cubicBezTo>
                    <a:pt x="2628019" y="1421106"/>
                    <a:pt x="2615751" y="1426187"/>
                    <a:pt x="2602960" y="1426187"/>
                  </a:cubicBezTo>
                  <a:lnTo>
                    <a:pt x="48231" y="1426187"/>
                  </a:lnTo>
                  <a:cubicBezTo>
                    <a:pt x="35439" y="1426187"/>
                    <a:pt x="23171" y="1421106"/>
                    <a:pt x="14126" y="1412061"/>
                  </a:cubicBezTo>
                  <a:cubicBezTo>
                    <a:pt x="5081" y="1403016"/>
                    <a:pt x="0" y="1390748"/>
                    <a:pt x="0" y="1377957"/>
                  </a:cubicBezTo>
                  <a:lnTo>
                    <a:pt x="0" y="48231"/>
                  </a:lnTo>
                  <a:cubicBezTo>
                    <a:pt x="0" y="35439"/>
                    <a:pt x="5081" y="23171"/>
                    <a:pt x="14126" y="14126"/>
                  </a:cubicBezTo>
                  <a:cubicBezTo>
                    <a:pt x="23171" y="5081"/>
                    <a:pt x="35439" y="0"/>
                    <a:pt x="4823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2651190" cy="1492862"/>
            </a:xfrm>
            <a:prstGeom prst="rect">
              <a:avLst/>
            </a:prstGeom>
          </p:spPr>
          <p:txBody>
            <a:bodyPr lIns="38523" tIns="38523" rIns="38523" bIns="38523" rtlCol="0" anchor="ctr"/>
            <a:lstStyle/>
            <a:p>
              <a:pPr algn="l">
                <a:lnSpc>
                  <a:spcPts val="461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1307331" y="1018621"/>
            <a:ext cx="20830043" cy="2654900"/>
            <a:chOff x="0" y="0"/>
            <a:chExt cx="5115576" cy="65200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115577" cy="652008"/>
            </a:xfrm>
            <a:custGeom>
              <a:avLst/>
              <a:gdLst/>
              <a:ahLst/>
              <a:cxnLst/>
              <a:rect l="l" t="t" r="r" b="b"/>
              <a:pathLst>
                <a:path w="5115577" h="652008">
                  <a:moveTo>
                    <a:pt x="18955" y="0"/>
                  </a:moveTo>
                  <a:lnTo>
                    <a:pt x="5096621" y="0"/>
                  </a:lnTo>
                  <a:cubicBezTo>
                    <a:pt x="5101649" y="0"/>
                    <a:pt x="5106470" y="1997"/>
                    <a:pt x="5110025" y="5552"/>
                  </a:cubicBezTo>
                  <a:cubicBezTo>
                    <a:pt x="5113579" y="9107"/>
                    <a:pt x="5115577" y="13928"/>
                    <a:pt x="5115577" y="18955"/>
                  </a:cubicBezTo>
                  <a:lnTo>
                    <a:pt x="5115577" y="633052"/>
                  </a:lnTo>
                  <a:cubicBezTo>
                    <a:pt x="5115577" y="638080"/>
                    <a:pt x="5113579" y="642901"/>
                    <a:pt x="5110025" y="646456"/>
                  </a:cubicBezTo>
                  <a:cubicBezTo>
                    <a:pt x="5106470" y="650010"/>
                    <a:pt x="5101649" y="652008"/>
                    <a:pt x="5096621" y="652008"/>
                  </a:cubicBezTo>
                  <a:lnTo>
                    <a:pt x="18955" y="652008"/>
                  </a:lnTo>
                  <a:cubicBezTo>
                    <a:pt x="13928" y="652008"/>
                    <a:pt x="9107" y="650010"/>
                    <a:pt x="5552" y="646456"/>
                  </a:cubicBezTo>
                  <a:cubicBezTo>
                    <a:pt x="1997" y="642901"/>
                    <a:pt x="0" y="638080"/>
                    <a:pt x="0" y="633052"/>
                  </a:cubicBezTo>
                  <a:lnTo>
                    <a:pt x="0" y="18955"/>
                  </a:lnTo>
                  <a:cubicBezTo>
                    <a:pt x="0" y="13928"/>
                    <a:pt x="1997" y="9107"/>
                    <a:pt x="5552" y="5552"/>
                  </a:cubicBezTo>
                  <a:cubicBezTo>
                    <a:pt x="9107" y="1997"/>
                    <a:pt x="13928" y="0"/>
                    <a:pt x="18955" y="0"/>
                  </a:cubicBezTo>
                  <a:close/>
                </a:path>
              </a:pathLst>
            </a:custGeom>
            <a:solidFill>
              <a:srgbClr val="825FC8"/>
            </a:solidFill>
            <a:ln w="571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190500"/>
              <a:ext cx="5115576" cy="842508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124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064931" y="3203917"/>
            <a:ext cx="9156078" cy="939209"/>
            <a:chOff x="0" y="0"/>
            <a:chExt cx="2248609" cy="23065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48609" cy="230657"/>
            </a:xfrm>
            <a:custGeom>
              <a:avLst/>
              <a:gdLst/>
              <a:ahLst/>
              <a:cxnLst/>
              <a:rect l="l" t="t" r="r" b="b"/>
              <a:pathLst>
                <a:path w="2248609" h="230657">
                  <a:moveTo>
                    <a:pt x="43123" y="0"/>
                  </a:moveTo>
                  <a:lnTo>
                    <a:pt x="2205486" y="0"/>
                  </a:lnTo>
                  <a:cubicBezTo>
                    <a:pt x="2229302" y="0"/>
                    <a:pt x="2248609" y="19307"/>
                    <a:pt x="2248609" y="43123"/>
                  </a:cubicBezTo>
                  <a:lnTo>
                    <a:pt x="2248609" y="187534"/>
                  </a:lnTo>
                  <a:cubicBezTo>
                    <a:pt x="2248609" y="211350"/>
                    <a:pt x="2229302" y="230657"/>
                    <a:pt x="2205486" y="230657"/>
                  </a:cubicBezTo>
                  <a:lnTo>
                    <a:pt x="43123" y="230657"/>
                  </a:lnTo>
                  <a:cubicBezTo>
                    <a:pt x="19307" y="230657"/>
                    <a:pt x="0" y="211350"/>
                    <a:pt x="0" y="187534"/>
                  </a:cubicBezTo>
                  <a:lnTo>
                    <a:pt x="0" y="43123"/>
                  </a:lnTo>
                  <a:cubicBezTo>
                    <a:pt x="0" y="19307"/>
                    <a:pt x="19307" y="0"/>
                    <a:pt x="43123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85725"/>
              <a:ext cx="2248609" cy="3163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879"/>
                </a:lnSpc>
              </a:pPr>
              <a:r>
                <a:rPr lang="en-US" sz="4199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Using Tree map</a:t>
              </a:r>
            </a:p>
          </p:txBody>
        </p:sp>
      </p:grpSp>
      <p:sp>
        <p:nvSpPr>
          <p:cNvPr id="14" name="Freeform 14"/>
          <p:cNvSpPr/>
          <p:nvPr/>
        </p:nvSpPr>
        <p:spPr>
          <a:xfrm>
            <a:off x="2681939" y="4810001"/>
            <a:ext cx="4351622" cy="3736850"/>
          </a:xfrm>
          <a:custGeom>
            <a:avLst/>
            <a:gdLst/>
            <a:ahLst/>
            <a:cxnLst/>
            <a:rect l="l" t="t" r="r" b="b"/>
            <a:pathLst>
              <a:path w="4351622" h="3736850">
                <a:moveTo>
                  <a:pt x="0" y="0"/>
                </a:moveTo>
                <a:lnTo>
                  <a:pt x="4351622" y="0"/>
                </a:lnTo>
                <a:lnTo>
                  <a:pt x="4351622" y="3736849"/>
                </a:lnTo>
                <a:lnTo>
                  <a:pt x="0" y="37368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8266315" y="5190941"/>
            <a:ext cx="7993008" cy="3175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6353" lvl="1" indent="-388176" algn="l">
              <a:lnSpc>
                <a:spcPts val="5034"/>
              </a:lnSpc>
              <a:buFont typeface="Arial"/>
              <a:buChar char="•"/>
            </a:pPr>
            <a:r>
              <a:rPr lang="en-US" sz="35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North America (508) → highest buyers</a:t>
            </a:r>
          </a:p>
          <a:p>
            <a:pPr marL="776353" lvl="1" indent="-388176" algn="l">
              <a:lnSpc>
                <a:spcPts val="5034"/>
              </a:lnSpc>
              <a:buFont typeface="Arial"/>
              <a:buChar char="•"/>
            </a:pPr>
            <a:r>
              <a:rPr lang="en-US" sz="35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Europe (316) → second</a:t>
            </a:r>
          </a:p>
          <a:p>
            <a:pPr marL="776353" lvl="1" indent="-388176" algn="l">
              <a:lnSpc>
                <a:spcPts val="5034"/>
              </a:lnSpc>
              <a:buFont typeface="Arial"/>
              <a:buChar char="•"/>
            </a:pPr>
            <a:r>
              <a:rPr lang="en-US" sz="35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Pacific (202) → lowest</a:t>
            </a:r>
          </a:p>
          <a:p>
            <a:pPr algn="l">
              <a:lnSpc>
                <a:spcPts val="5034"/>
              </a:lnSpc>
            </a:pPr>
            <a:r>
              <a:rPr lang="en-US" sz="3595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Hence, Region heavily influences purchase behavior.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93064" y="1180994"/>
            <a:ext cx="16701872" cy="1403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340"/>
              </a:lnSpc>
              <a:spcBef>
                <a:spcPct val="0"/>
              </a:spcBef>
            </a:pPr>
            <a:r>
              <a:rPr lang="en-US" sz="8100" spc="1231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BUYERS ACROSS REGIONS</a:t>
            </a:r>
          </a:p>
        </p:txBody>
      </p:sp>
      <p:sp>
        <p:nvSpPr>
          <p:cNvPr id="17" name="Freeform 17"/>
          <p:cNvSpPr/>
          <p:nvPr/>
        </p:nvSpPr>
        <p:spPr>
          <a:xfrm>
            <a:off x="1028700" y="1352444"/>
            <a:ext cx="1458165" cy="1680382"/>
          </a:xfrm>
          <a:custGeom>
            <a:avLst/>
            <a:gdLst/>
            <a:ahLst/>
            <a:cxnLst/>
            <a:rect l="l" t="t" r="r" b="b"/>
            <a:pathLst>
              <a:path w="1458165" h="1680382">
                <a:moveTo>
                  <a:pt x="0" y="0"/>
                </a:moveTo>
                <a:lnTo>
                  <a:pt x="1458165" y="0"/>
                </a:lnTo>
                <a:lnTo>
                  <a:pt x="1458165" y="1680382"/>
                </a:lnTo>
                <a:lnTo>
                  <a:pt x="0" y="16803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6CC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07331" y="1018621"/>
            <a:ext cx="20830043" cy="2654900"/>
            <a:chOff x="0" y="0"/>
            <a:chExt cx="5115576" cy="6520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15577" cy="652008"/>
            </a:xfrm>
            <a:custGeom>
              <a:avLst/>
              <a:gdLst/>
              <a:ahLst/>
              <a:cxnLst/>
              <a:rect l="l" t="t" r="r" b="b"/>
              <a:pathLst>
                <a:path w="5115577" h="652008">
                  <a:moveTo>
                    <a:pt x="18955" y="0"/>
                  </a:moveTo>
                  <a:lnTo>
                    <a:pt x="5096621" y="0"/>
                  </a:lnTo>
                  <a:cubicBezTo>
                    <a:pt x="5101649" y="0"/>
                    <a:pt x="5106470" y="1997"/>
                    <a:pt x="5110025" y="5552"/>
                  </a:cubicBezTo>
                  <a:cubicBezTo>
                    <a:pt x="5113579" y="9107"/>
                    <a:pt x="5115577" y="13928"/>
                    <a:pt x="5115577" y="18955"/>
                  </a:cubicBezTo>
                  <a:lnTo>
                    <a:pt x="5115577" y="633052"/>
                  </a:lnTo>
                  <a:cubicBezTo>
                    <a:pt x="5115577" y="638080"/>
                    <a:pt x="5113579" y="642901"/>
                    <a:pt x="5110025" y="646456"/>
                  </a:cubicBezTo>
                  <a:cubicBezTo>
                    <a:pt x="5106470" y="650010"/>
                    <a:pt x="5101649" y="652008"/>
                    <a:pt x="5096621" y="652008"/>
                  </a:cubicBezTo>
                  <a:lnTo>
                    <a:pt x="18955" y="652008"/>
                  </a:lnTo>
                  <a:cubicBezTo>
                    <a:pt x="13928" y="652008"/>
                    <a:pt x="9107" y="650010"/>
                    <a:pt x="5552" y="646456"/>
                  </a:cubicBezTo>
                  <a:cubicBezTo>
                    <a:pt x="1997" y="642901"/>
                    <a:pt x="0" y="638080"/>
                    <a:pt x="0" y="633052"/>
                  </a:cubicBezTo>
                  <a:lnTo>
                    <a:pt x="0" y="18955"/>
                  </a:lnTo>
                  <a:cubicBezTo>
                    <a:pt x="0" y="13928"/>
                    <a:pt x="1997" y="9107"/>
                    <a:pt x="5552" y="5552"/>
                  </a:cubicBezTo>
                  <a:cubicBezTo>
                    <a:pt x="9107" y="1997"/>
                    <a:pt x="13928" y="0"/>
                    <a:pt x="18955" y="0"/>
                  </a:cubicBezTo>
                  <a:close/>
                </a:path>
              </a:pathLst>
            </a:custGeom>
            <a:solidFill>
              <a:srgbClr val="1D79CD"/>
            </a:solidFill>
            <a:ln w="571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190500"/>
              <a:ext cx="5115576" cy="842508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124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565961" y="3203917"/>
            <a:ext cx="9156078" cy="939209"/>
            <a:chOff x="0" y="0"/>
            <a:chExt cx="2248609" cy="23065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48609" cy="230657"/>
            </a:xfrm>
            <a:custGeom>
              <a:avLst/>
              <a:gdLst/>
              <a:ahLst/>
              <a:cxnLst/>
              <a:rect l="l" t="t" r="r" b="b"/>
              <a:pathLst>
                <a:path w="2248609" h="230657">
                  <a:moveTo>
                    <a:pt x="43123" y="0"/>
                  </a:moveTo>
                  <a:lnTo>
                    <a:pt x="2205486" y="0"/>
                  </a:lnTo>
                  <a:cubicBezTo>
                    <a:pt x="2229302" y="0"/>
                    <a:pt x="2248609" y="19307"/>
                    <a:pt x="2248609" y="43123"/>
                  </a:cubicBezTo>
                  <a:lnTo>
                    <a:pt x="2248609" y="187534"/>
                  </a:lnTo>
                  <a:cubicBezTo>
                    <a:pt x="2248609" y="211350"/>
                    <a:pt x="2229302" y="230657"/>
                    <a:pt x="2205486" y="230657"/>
                  </a:cubicBezTo>
                  <a:lnTo>
                    <a:pt x="43123" y="230657"/>
                  </a:lnTo>
                  <a:cubicBezTo>
                    <a:pt x="19307" y="230657"/>
                    <a:pt x="0" y="211350"/>
                    <a:pt x="0" y="187534"/>
                  </a:cubicBezTo>
                  <a:lnTo>
                    <a:pt x="0" y="43123"/>
                  </a:lnTo>
                  <a:cubicBezTo>
                    <a:pt x="0" y="19307"/>
                    <a:pt x="19307" y="0"/>
                    <a:pt x="43123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85725"/>
              <a:ext cx="2248609" cy="3163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879"/>
                </a:lnSpc>
              </a:pPr>
              <a:r>
                <a:rPr lang="en-US" sz="4199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influencing Bike Purchase 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298028" y="4180459"/>
            <a:ext cx="12188964" cy="5681478"/>
            <a:chOff x="0" y="0"/>
            <a:chExt cx="3947399" cy="183994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947399" cy="1839948"/>
            </a:xfrm>
            <a:custGeom>
              <a:avLst/>
              <a:gdLst/>
              <a:ahLst/>
              <a:cxnLst/>
              <a:rect l="l" t="t" r="r" b="b"/>
              <a:pathLst>
                <a:path w="3947399" h="1839948">
                  <a:moveTo>
                    <a:pt x="32393" y="0"/>
                  </a:moveTo>
                  <a:lnTo>
                    <a:pt x="3915006" y="0"/>
                  </a:lnTo>
                  <a:cubicBezTo>
                    <a:pt x="3932896" y="0"/>
                    <a:pt x="3947399" y="14503"/>
                    <a:pt x="3947399" y="32393"/>
                  </a:cubicBezTo>
                  <a:lnTo>
                    <a:pt x="3947399" y="1807555"/>
                  </a:lnTo>
                  <a:cubicBezTo>
                    <a:pt x="3947399" y="1825445"/>
                    <a:pt x="3932896" y="1839948"/>
                    <a:pt x="3915006" y="1839948"/>
                  </a:cubicBezTo>
                  <a:lnTo>
                    <a:pt x="32393" y="1839948"/>
                  </a:lnTo>
                  <a:cubicBezTo>
                    <a:pt x="14503" y="1839948"/>
                    <a:pt x="0" y="1825445"/>
                    <a:pt x="0" y="1807555"/>
                  </a:cubicBezTo>
                  <a:lnTo>
                    <a:pt x="0" y="32393"/>
                  </a:lnTo>
                  <a:cubicBezTo>
                    <a:pt x="0" y="14503"/>
                    <a:pt x="14503" y="0"/>
                    <a:pt x="32393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3947399" cy="1906623"/>
            </a:xfrm>
            <a:prstGeom prst="rect">
              <a:avLst/>
            </a:prstGeom>
          </p:spPr>
          <p:txBody>
            <a:bodyPr lIns="38523" tIns="38523" rIns="38523" bIns="38523" rtlCol="0" anchor="ctr"/>
            <a:lstStyle/>
            <a:p>
              <a:pPr algn="l">
                <a:lnSpc>
                  <a:spcPts val="461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0" y="0"/>
            <a:ext cx="1516617" cy="2460588"/>
          </a:xfrm>
          <a:custGeom>
            <a:avLst/>
            <a:gdLst/>
            <a:ahLst/>
            <a:cxnLst/>
            <a:rect l="l" t="t" r="r" b="b"/>
            <a:pathLst>
              <a:path w="1516617" h="2460588">
                <a:moveTo>
                  <a:pt x="0" y="0"/>
                </a:moveTo>
                <a:lnTo>
                  <a:pt x="1516617" y="0"/>
                </a:lnTo>
                <a:lnTo>
                  <a:pt x="1516617" y="2460588"/>
                </a:lnTo>
                <a:lnTo>
                  <a:pt x="0" y="24605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028700" y="1490697"/>
            <a:ext cx="17494936" cy="1427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620"/>
              </a:lnSpc>
              <a:spcBef>
                <a:spcPct val="0"/>
              </a:spcBef>
            </a:pPr>
            <a:r>
              <a:rPr lang="en-US" sz="8300" spc="1261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TOP 5 HIGH IMPACT FILTERS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109077" y="4359595"/>
            <a:ext cx="10069847" cy="5256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69" lvl="1" indent="-345435" algn="l">
              <a:lnSpc>
                <a:spcPts val="4479"/>
              </a:lnSpc>
              <a:buFont typeface="Arial"/>
              <a:buChar char="•"/>
            </a:pPr>
            <a:r>
              <a:rPr lang="en-US" sz="3199" b="1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Commute Distance </a:t>
            </a: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-Short-distance commuters are most likely to buy.</a:t>
            </a:r>
          </a:p>
          <a:p>
            <a:pPr marL="647690" lvl="1" indent="-323845" algn="l">
              <a:lnSpc>
                <a:spcPts val="4199"/>
              </a:lnSpc>
              <a:buFont typeface="Arial"/>
              <a:buChar char="•"/>
            </a:pPr>
            <a:r>
              <a:rPr lang="en-US" sz="2999" b="1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Age Group</a:t>
            </a: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-Adults dominate purchases.</a:t>
            </a:r>
          </a:p>
          <a:p>
            <a:pPr marL="647690" lvl="1" indent="-323845" algn="l">
              <a:lnSpc>
                <a:spcPts val="4199"/>
              </a:lnSpc>
              <a:buFont typeface="Arial"/>
              <a:buChar char="•"/>
            </a:pPr>
            <a:r>
              <a:rPr lang="en-US" sz="2999" b="1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Region</a:t>
            </a: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-North America &amp; Europe drive the majority of sales.</a:t>
            </a:r>
          </a:p>
          <a:p>
            <a:pPr marL="647690" lvl="1" indent="-323845" algn="l">
              <a:lnSpc>
                <a:spcPts val="4199"/>
              </a:lnSpc>
              <a:buFont typeface="Arial"/>
              <a:buChar char="•"/>
            </a:pPr>
            <a:r>
              <a:rPr lang="en-US" sz="2999" b="1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Income</a:t>
            </a: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-Higher income → higher purchase probability.</a:t>
            </a:r>
          </a:p>
          <a:p>
            <a:pPr marL="647690" lvl="1" indent="-323845" algn="l">
              <a:lnSpc>
                <a:spcPts val="4199"/>
              </a:lnSpc>
              <a:buFont typeface="Arial"/>
              <a:buChar char="•"/>
            </a:pPr>
            <a:r>
              <a:rPr lang="en-US" sz="2999" b="1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Home Ownership</a:t>
            </a:r>
          </a:p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-Homeowners show strong purchase inclination (68%)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6CC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07331" y="1018621"/>
            <a:ext cx="20830043" cy="2654900"/>
            <a:chOff x="0" y="0"/>
            <a:chExt cx="5115576" cy="6520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15577" cy="652008"/>
            </a:xfrm>
            <a:custGeom>
              <a:avLst/>
              <a:gdLst/>
              <a:ahLst/>
              <a:cxnLst/>
              <a:rect l="l" t="t" r="r" b="b"/>
              <a:pathLst>
                <a:path w="5115577" h="652008">
                  <a:moveTo>
                    <a:pt x="18955" y="0"/>
                  </a:moveTo>
                  <a:lnTo>
                    <a:pt x="5096621" y="0"/>
                  </a:lnTo>
                  <a:cubicBezTo>
                    <a:pt x="5101649" y="0"/>
                    <a:pt x="5106470" y="1997"/>
                    <a:pt x="5110025" y="5552"/>
                  </a:cubicBezTo>
                  <a:cubicBezTo>
                    <a:pt x="5113579" y="9107"/>
                    <a:pt x="5115577" y="13928"/>
                    <a:pt x="5115577" y="18955"/>
                  </a:cubicBezTo>
                  <a:lnTo>
                    <a:pt x="5115577" y="633052"/>
                  </a:lnTo>
                  <a:cubicBezTo>
                    <a:pt x="5115577" y="638080"/>
                    <a:pt x="5113579" y="642901"/>
                    <a:pt x="5110025" y="646456"/>
                  </a:cubicBezTo>
                  <a:cubicBezTo>
                    <a:pt x="5106470" y="650010"/>
                    <a:pt x="5101649" y="652008"/>
                    <a:pt x="5096621" y="652008"/>
                  </a:cubicBezTo>
                  <a:lnTo>
                    <a:pt x="18955" y="652008"/>
                  </a:lnTo>
                  <a:cubicBezTo>
                    <a:pt x="13928" y="652008"/>
                    <a:pt x="9107" y="650010"/>
                    <a:pt x="5552" y="646456"/>
                  </a:cubicBezTo>
                  <a:cubicBezTo>
                    <a:pt x="1997" y="642901"/>
                    <a:pt x="0" y="638080"/>
                    <a:pt x="0" y="633052"/>
                  </a:cubicBezTo>
                  <a:lnTo>
                    <a:pt x="0" y="18955"/>
                  </a:lnTo>
                  <a:cubicBezTo>
                    <a:pt x="0" y="13928"/>
                    <a:pt x="1997" y="9107"/>
                    <a:pt x="5552" y="5552"/>
                  </a:cubicBezTo>
                  <a:cubicBezTo>
                    <a:pt x="9107" y="1997"/>
                    <a:pt x="13928" y="0"/>
                    <a:pt x="18955" y="0"/>
                  </a:cubicBezTo>
                  <a:close/>
                </a:path>
              </a:pathLst>
            </a:custGeom>
            <a:solidFill>
              <a:srgbClr val="1D79CD"/>
            </a:solidFill>
            <a:ln w="571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190500"/>
              <a:ext cx="5115576" cy="842508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124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565961" y="3203917"/>
            <a:ext cx="9156078" cy="939209"/>
            <a:chOff x="0" y="0"/>
            <a:chExt cx="2248609" cy="23065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48609" cy="230657"/>
            </a:xfrm>
            <a:custGeom>
              <a:avLst/>
              <a:gdLst/>
              <a:ahLst/>
              <a:cxnLst/>
              <a:rect l="l" t="t" r="r" b="b"/>
              <a:pathLst>
                <a:path w="2248609" h="230657">
                  <a:moveTo>
                    <a:pt x="43123" y="0"/>
                  </a:moveTo>
                  <a:lnTo>
                    <a:pt x="2205486" y="0"/>
                  </a:lnTo>
                  <a:cubicBezTo>
                    <a:pt x="2229302" y="0"/>
                    <a:pt x="2248609" y="19307"/>
                    <a:pt x="2248609" y="43123"/>
                  </a:cubicBezTo>
                  <a:lnTo>
                    <a:pt x="2248609" y="187534"/>
                  </a:lnTo>
                  <a:cubicBezTo>
                    <a:pt x="2248609" y="211350"/>
                    <a:pt x="2229302" y="230657"/>
                    <a:pt x="2205486" y="230657"/>
                  </a:cubicBezTo>
                  <a:lnTo>
                    <a:pt x="43123" y="230657"/>
                  </a:lnTo>
                  <a:cubicBezTo>
                    <a:pt x="19307" y="230657"/>
                    <a:pt x="0" y="211350"/>
                    <a:pt x="0" y="187534"/>
                  </a:cubicBezTo>
                  <a:lnTo>
                    <a:pt x="0" y="43123"/>
                  </a:lnTo>
                  <a:cubicBezTo>
                    <a:pt x="0" y="19307"/>
                    <a:pt x="19307" y="0"/>
                    <a:pt x="43123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85725"/>
              <a:ext cx="2248609" cy="3163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879"/>
                </a:lnSpc>
              </a:pPr>
              <a:r>
                <a:rPr lang="en-US" sz="4199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for Stakeholders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93064" y="1161944"/>
            <a:ext cx="17494936" cy="1562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0"/>
              </a:lnSpc>
              <a:spcBef>
                <a:spcPct val="0"/>
              </a:spcBef>
            </a:pPr>
            <a:r>
              <a:rPr lang="en-US" sz="9000" spc="1368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OVERALL INSIGHTS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3298028" y="4180459"/>
            <a:ext cx="12188964" cy="5681478"/>
            <a:chOff x="0" y="0"/>
            <a:chExt cx="3947399" cy="183994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947399" cy="1839948"/>
            </a:xfrm>
            <a:custGeom>
              <a:avLst/>
              <a:gdLst/>
              <a:ahLst/>
              <a:cxnLst/>
              <a:rect l="l" t="t" r="r" b="b"/>
              <a:pathLst>
                <a:path w="3947399" h="1839948">
                  <a:moveTo>
                    <a:pt x="32393" y="0"/>
                  </a:moveTo>
                  <a:lnTo>
                    <a:pt x="3915006" y="0"/>
                  </a:lnTo>
                  <a:cubicBezTo>
                    <a:pt x="3932896" y="0"/>
                    <a:pt x="3947399" y="14503"/>
                    <a:pt x="3947399" y="32393"/>
                  </a:cubicBezTo>
                  <a:lnTo>
                    <a:pt x="3947399" y="1807555"/>
                  </a:lnTo>
                  <a:cubicBezTo>
                    <a:pt x="3947399" y="1825445"/>
                    <a:pt x="3932896" y="1839948"/>
                    <a:pt x="3915006" y="1839948"/>
                  </a:cubicBezTo>
                  <a:lnTo>
                    <a:pt x="32393" y="1839948"/>
                  </a:lnTo>
                  <a:cubicBezTo>
                    <a:pt x="14503" y="1839948"/>
                    <a:pt x="0" y="1825445"/>
                    <a:pt x="0" y="1807555"/>
                  </a:cubicBezTo>
                  <a:lnTo>
                    <a:pt x="0" y="32393"/>
                  </a:lnTo>
                  <a:cubicBezTo>
                    <a:pt x="0" y="14503"/>
                    <a:pt x="14503" y="0"/>
                    <a:pt x="32393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3947399" cy="1906623"/>
            </a:xfrm>
            <a:prstGeom prst="rect">
              <a:avLst/>
            </a:prstGeom>
          </p:spPr>
          <p:txBody>
            <a:bodyPr lIns="38523" tIns="38523" rIns="38523" bIns="38523" rtlCol="0" anchor="ctr"/>
            <a:lstStyle/>
            <a:p>
              <a:pPr algn="l">
                <a:lnSpc>
                  <a:spcPts val="461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 rot="10599070">
            <a:off x="14862391" y="8495501"/>
            <a:ext cx="3372256" cy="1925252"/>
          </a:xfrm>
          <a:custGeom>
            <a:avLst/>
            <a:gdLst/>
            <a:ahLst/>
            <a:cxnLst/>
            <a:rect l="l" t="t" r="r" b="b"/>
            <a:pathLst>
              <a:path w="3372256" h="1925252">
                <a:moveTo>
                  <a:pt x="0" y="0"/>
                </a:moveTo>
                <a:lnTo>
                  <a:pt x="3372257" y="0"/>
                </a:lnTo>
                <a:lnTo>
                  <a:pt x="3372257" y="1925251"/>
                </a:lnTo>
                <a:lnTo>
                  <a:pt x="0" y="19252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0" y="0"/>
            <a:ext cx="3372256" cy="1925252"/>
          </a:xfrm>
          <a:custGeom>
            <a:avLst/>
            <a:gdLst/>
            <a:ahLst/>
            <a:cxnLst/>
            <a:rect l="l" t="t" r="r" b="b"/>
            <a:pathLst>
              <a:path w="3372256" h="1925252">
                <a:moveTo>
                  <a:pt x="0" y="0"/>
                </a:moveTo>
                <a:lnTo>
                  <a:pt x="3372256" y="0"/>
                </a:lnTo>
                <a:lnTo>
                  <a:pt x="3372256" y="1925252"/>
                </a:lnTo>
                <a:lnTo>
                  <a:pt x="0" y="19252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5304892" y="1352444"/>
            <a:ext cx="2487255" cy="2175217"/>
          </a:xfrm>
          <a:custGeom>
            <a:avLst/>
            <a:gdLst/>
            <a:ahLst/>
            <a:cxnLst/>
            <a:rect l="l" t="t" r="r" b="b"/>
            <a:pathLst>
              <a:path w="2487255" h="2175217">
                <a:moveTo>
                  <a:pt x="0" y="0"/>
                </a:moveTo>
                <a:lnTo>
                  <a:pt x="2487255" y="0"/>
                </a:lnTo>
                <a:lnTo>
                  <a:pt x="2487255" y="2175217"/>
                </a:lnTo>
                <a:lnTo>
                  <a:pt x="0" y="21752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3926011" y="5076825"/>
            <a:ext cx="10363359" cy="4051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69" lvl="1" indent="-345435" algn="l">
              <a:lnSpc>
                <a:spcPts val="4479"/>
              </a:lnSpc>
              <a:buFont typeface="Arial"/>
              <a:buChar char="•"/>
            </a:pPr>
            <a:r>
              <a:rPr lang="en-US" sz="3199" b="1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Adults are the key target group</a:t>
            </a:r>
          </a:p>
          <a:p>
            <a:pPr marL="690869" lvl="1" indent="-345435" algn="l">
              <a:lnSpc>
                <a:spcPts val="4479"/>
              </a:lnSpc>
              <a:buFont typeface="Arial"/>
              <a:buChar char="•"/>
            </a:pPr>
            <a:r>
              <a:rPr lang="en-US" sz="3199" b="1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Gender split is balanced → both segments equally important</a:t>
            </a:r>
          </a:p>
          <a:p>
            <a:pPr marL="690869" lvl="1" indent="-345435" algn="l">
              <a:lnSpc>
                <a:spcPts val="4479"/>
              </a:lnSpc>
              <a:buFont typeface="Arial"/>
              <a:buChar char="•"/>
            </a:pPr>
            <a:r>
              <a:rPr lang="en-US" sz="3199" b="1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Homeowners &amp; high-income professionals are dominant buyers</a:t>
            </a:r>
          </a:p>
          <a:p>
            <a:pPr marL="690869" lvl="1" indent="-345435" algn="l">
              <a:lnSpc>
                <a:spcPts val="4479"/>
              </a:lnSpc>
              <a:buFont typeface="Arial"/>
              <a:buChar char="•"/>
            </a:pPr>
            <a:r>
              <a:rPr lang="en-US" sz="3199" b="1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North America &amp; Europe outperform Pacific region</a:t>
            </a:r>
          </a:p>
          <a:p>
            <a:pPr algn="l">
              <a:lnSpc>
                <a:spcPts val="5599"/>
              </a:lnSpc>
            </a:pPr>
            <a:endParaRPr lang="en-US" sz="3199" b="1">
              <a:solidFill>
                <a:srgbClr val="000000"/>
              </a:solidFill>
              <a:latin typeface="TT Rounds Condensed Bold"/>
              <a:ea typeface="TT Rounds Condensed Bold"/>
              <a:cs typeface="TT Rounds Condensed Bold"/>
              <a:sym typeface="TT Rounds Condensed Bol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6CC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71022" y="1028700"/>
            <a:ext cx="20830043" cy="2654900"/>
            <a:chOff x="0" y="0"/>
            <a:chExt cx="5115576" cy="6520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15577" cy="652008"/>
            </a:xfrm>
            <a:custGeom>
              <a:avLst/>
              <a:gdLst/>
              <a:ahLst/>
              <a:cxnLst/>
              <a:rect l="l" t="t" r="r" b="b"/>
              <a:pathLst>
                <a:path w="5115577" h="652008">
                  <a:moveTo>
                    <a:pt x="18955" y="0"/>
                  </a:moveTo>
                  <a:lnTo>
                    <a:pt x="5096621" y="0"/>
                  </a:lnTo>
                  <a:cubicBezTo>
                    <a:pt x="5101649" y="0"/>
                    <a:pt x="5106470" y="1997"/>
                    <a:pt x="5110025" y="5552"/>
                  </a:cubicBezTo>
                  <a:cubicBezTo>
                    <a:pt x="5113579" y="9107"/>
                    <a:pt x="5115577" y="13928"/>
                    <a:pt x="5115577" y="18955"/>
                  </a:cubicBezTo>
                  <a:lnTo>
                    <a:pt x="5115577" y="633052"/>
                  </a:lnTo>
                  <a:cubicBezTo>
                    <a:pt x="5115577" y="638080"/>
                    <a:pt x="5113579" y="642901"/>
                    <a:pt x="5110025" y="646456"/>
                  </a:cubicBezTo>
                  <a:cubicBezTo>
                    <a:pt x="5106470" y="650010"/>
                    <a:pt x="5101649" y="652008"/>
                    <a:pt x="5096621" y="652008"/>
                  </a:cubicBezTo>
                  <a:lnTo>
                    <a:pt x="18955" y="652008"/>
                  </a:lnTo>
                  <a:cubicBezTo>
                    <a:pt x="13928" y="652008"/>
                    <a:pt x="9107" y="650010"/>
                    <a:pt x="5552" y="646456"/>
                  </a:cubicBezTo>
                  <a:cubicBezTo>
                    <a:pt x="1997" y="642901"/>
                    <a:pt x="0" y="638080"/>
                    <a:pt x="0" y="633052"/>
                  </a:cubicBezTo>
                  <a:lnTo>
                    <a:pt x="0" y="18955"/>
                  </a:lnTo>
                  <a:cubicBezTo>
                    <a:pt x="0" y="13928"/>
                    <a:pt x="1997" y="9107"/>
                    <a:pt x="5552" y="5552"/>
                  </a:cubicBezTo>
                  <a:cubicBezTo>
                    <a:pt x="9107" y="1997"/>
                    <a:pt x="13928" y="0"/>
                    <a:pt x="18955" y="0"/>
                  </a:cubicBezTo>
                  <a:close/>
                </a:path>
              </a:pathLst>
            </a:custGeom>
            <a:solidFill>
              <a:srgbClr val="1D79CD"/>
            </a:solidFill>
            <a:ln w="571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190500"/>
              <a:ext cx="5115576" cy="842508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124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298028" y="4180459"/>
            <a:ext cx="12188964" cy="5681478"/>
            <a:chOff x="0" y="0"/>
            <a:chExt cx="3947399" cy="18399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947399" cy="1839948"/>
            </a:xfrm>
            <a:custGeom>
              <a:avLst/>
              <a:gdLst/>
              <a:ahLst/>
              <a:cxnLst/>
              <a:rect l="l" t="t" r="r" b="b"/>
              <a:pathLst>
                <a:path w="3947399" h="1839948">
                  <a:moveTo>
                    <a:pt x="32393" y="0"/>
                  </a:moveTo>
                  <a:lnTo>
                    <a:pt x="3915006" y="0"/>
                  </a:lnTo>
                  <a:cubicBezTo>
                    <a:pt x="3932896" y="0"/>
                    <a:pt x="3947399" y="14503"/>
                    <a:pt x="3947399" y="32393"/>
                  </a:cubicBezTo>
                  <a:lnTo>
                    <a:pt x="3947399" y="1807555"/>
                  </a:lnTo>
                  <a:cubicBezTo>
                    <a:pt x="3947399" y="1825445"/>
                    <a:pt x="3932896" y="1839948"/>
                    <a:pt x="3915006" y="1839948"/>
                  </a:cubicBezTo>
                  <a:lnTo>
                    <a:pt x="32393" y="1839948"/>
                  </a:lnTo>
                  <a:cubicBezTo>
                    <a:pt x="14503" y="1839948"/>
                    <a:pt x="0" y="1825445"/>
                    <a:pt x="0" y="1807555"/>
                  </a:cubicBezTo>
                  <a:lnTo>
                    <a:pt x="0" y="32393"/>
                  </a:lnTo>
                  <a:cubicBezTo>
                    <a:pt x="0" y="14503"/>
                    <a:pt x="14503" y="0"/>
                    <a:pt x="32393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3947399" cy="1906623"/>
            </a:xfrm>
            <a:prstGeom prst="rect">
              <a:avLst/>
            </a:prstGeom>
          </p:spPr>
          <p:txBody>
            <a:bodyPr lIns="38523" tIns="38523" rIns="38523" bIns="38523" rtlCol="0" anchor="ctr"/>
            <a:lstStyle/>
            <a:p>
              <a:pPr algn="l">
                <a:lnSpc>
                  <a:spcPts val="461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0" y="0"/>
            <a:ext cx="3372256" cy="1925252"/>
          </a:xfrm>
          <a:custGeom>
            <a:avLst/>
            <a:gdLst/>
            <a:ahLst/>
            <a:cxnLst/>
            <a:rect l="l" t="t" r="r" b="b"/>
            <a:pathLst>
              <a:path w="3372256" h="1925252">
                <a:moveTo>
                  <a:pt x="0" y="0"/>
                </a:moveTo>
                <a:lnTo>
                  <a:pt x="3372256" y="0"/>
                </a:lnTo>
                <a:lnTo>
                  <a:pt x="3372256" y="1925252"/>
                </a:lnTo>
                <a:lnTo>
                  <a:pt x="0" y="19252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580755" y="4359595"/>
            <a:ext cx="11331949" cy="5561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69" lvl="1" indent="-345435" algn="l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Focus marketing on</a:t>
            </a:r>
            <a:r>
              <a:rPr lang="en-US" sz="3199" b="1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 Adults aged 20–50.</a:t>
            </a:r>
          </a:p>
          <a:p>
            <a:pPr marL="690869" lvl="1" indent="-345435" algn="l">
              <a:lnSpc>
                <a:spcPts val="4479"/>
              </a:lnSpc>
              <a:buFont typeface="Arial"/>
              <a:buChar char="•"/>
            </a:pPr>
            <a:r>
              <a:rPr lang="en-US" sz="3199" b="1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Promote high-utility commute-friendly bikes .</a:t>
            </a:r>
          </a:p>
          <a:p>
            <a:pPr marL="690869" lvl="1" indent="-345435" algn="l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Increase presence in</a:t>
            </a:r>
            <a:r>
              <a:rPr lang="en-US" sz="3199" b="1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 North America &amp; Europe, </a:t>
            </a:r>
            <a:r>
              <a:rPr lang="en-US" sz="3199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boost</a:t>
            </a:r>
            <a:r>
              <a:rPr lang="en-US" sz="3199" b="1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 Pacific with offers.</a:t>
            </a:r>
          </a:p>
          <a:p>
            <a:pPr marL="690869" lvl="1" indent="-345435" algn="l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Create</a:t>
            </a:r>
            <a:r>
              <a:rPr lang="en-US" sz="3199" b="1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 occupation-based </a:t>
            </a:r>
            <a:r>
              <a:rPr lang="en-US" sz="3199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financing plans.</a:t>
            </a:r>
          </a:p>
          <a:p>
            <a:pPr marL="690869" lvl="1" indent="-345435" algn="l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Launch </a:t>
            </a:r>
            <a:r>
              <a:rPr lang="en-US" sz="3199" b="1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female-oriented campaigns.</a:t>
            </a:r>
          </a:p>
          <a:p>
            <a:pPr marL="690869" lvl="1" indent="-345435" algn="l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Offer</a:t>
            </a:r>
            <a:r>
              <a:rPr lang="en-US" sz="3199" b="1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 premium models </a:t>
            </a:r>
            <a:r>
              <a:rPr lang="en-US" sz="3199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or </a:t>
            </a:r>
            <a:r>
              <a:rPr lang="en-US" sz="3199" b="1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loans </a:t>
            </a:r>
            <a:r>
              <a:rPr lang="en-US" sz="3199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to</a:t>
            </a:r>
            <a:r>
              <a:rPr lang="en-US" sz="3199" b="1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 high-income &amp; homeowners.</a:t>
            </a:r>
          </a:p>
          <a:p>
            <a:pPr marL="690869" lvl="1" indent="-345435" algn="l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Use</a:t>
            </a:r>
            <a:r>
              <a:rPr lang="en-US" sz="3199" b="1">
                <a:solidFill>
                  <a:srgbClr val="000000"/>
                </a:solidFill>
                <a:latin typeface="TT Rounds Condensed Bold"/>
                <a:ea typeface="TT Rounds Condensed Bold"/>
                <a:cs typeface="TT Rounds Condensed Bold"/>
                <a:sym typeface="TT Rounds Condensed Bold"/>
              </a:rPr>
              <a:t> demographic filters (cars, marital status, children) </a:t>
            </a:r>
            <a:r>
              <a:rPr lang="en-US" sz="3199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for micro-targeting.</a:t>
            </a:r>
          </a:p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000000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.</a:t>
            </a:r>
          </a:p>
        </p:txBody>
      </p:sp>
      <p:sp>
        <p:nvSpPr>
          <p:cNvPr id="10" name="Freeform 10"/>
          <p:cNvSpPr/>
          <p:nvPr/>
        </p:nvSpPr>
        <p:spPr>
          <a:xfrm rot="10599070">
            <a:off x="14862391" y="8495501"/>
            <a:ext cx="3372256" cy="1925252"/>
          </a:xfrm>
          <a:custGeom>
            <a:avLst/>
            <a:gdLst/>
            <a:ahLst/>
            <a:cxnLst/>
            <a:rect l="l" t="t" r="r" b="b"/>
            <a:pathLst>
              <a:path w="3372256" h="1925252">
                <a:moveTo>
                  <a:pt x="0" y="0"/>
                </a:moveTo>
                <a:lnTo>
                  <a:pt x="3372257" y="0"/>
                </a:lnTo>
                <a:lnTo>
                  <a:pt x="3372257" y="1925251"/>
                </a:lnTo>
                <a:lnTo>
                  <a:pt x="0" y="19252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793064" y="1556690"/>
            <a:ext cx="17494936" cy="1427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620"/>
              </a:lnSpc>
              <a:spcBef>
                <a:spcPct val="0"/>
              </a:spcBef>
            </a:pPr>
            <a:r>
              <a:rPr lang="en-US" sz="8300" spc="1261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BUSINESS RECOMMENDATIONS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6CC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638906"/>
            <a:ext cx="16955685" cy="2681550"/>
            <a:chOff x="0" y="0"/>
            <a:chExt cx="4164086" cy="65855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64087" cy="658552"/>
            </a:xfrm>
            <a:custGeom>
              <a:avLst/>
              <a:gdLst/>
              <a:ahLst/>
              <a:cxnLst/>
              <a:rect l="l" t="t" r="r" b="b"/>
              <a:pathLst>
                <a:path w="4164087" h="658552">
                  <a:moveTo>
                    <a:pt x="23286" y="0"/>
                  </a:moveTo>
                  <a:lnTo>
                    <a:pt x="4140800" y="0"/>
                  </a:lnTo>
                  <a:cubicBezTo>
                    <a:pt x="4146976" y="0"/>
                    <a:pt x="4152899" y="2453"/>
                    <a:pt x="4157266" y="6820"/>
                  </a:cubicBezTo>
                  <a:cubicBezTo>
                    <a:pt x="4161633" y="11188"/>
                    <a:pt x="4164087" y="17111"/>
                    <a:pt x="4164087" y="23286"/>
                  </a:cubicBezTo>
                  <a:lnTo>
                    <a:pt x="4164087" y="635266"/>
                  </a:lnTo>
                  <a:cubicBezTo>
                    <a:pt x="4164087" y="641442"/>
                    <a:pt x="4161633" y="647365"/>
                    <a:pt x="4157266" y="651732"/>
                  </a:cubicBezTo>
                  <a:cubicBezTo>
                    <a:pt x="4152899" y="656099"/>
                    <a:pt x="4146976" y="658552"/>
                    <a:pt x="4140800" y="658552"/>
                  </a:cubicBezTo>
                  <a:lnTo>
                    <a:pt x="23286" y="658552"/>
                  </a:lnTo>
                  <a:cubicBezTo>
                    <a:pt x="17111" y="658552"/>
                    <a:pt x="11188" y="656099"/>
                    <a:pt x="6820" y="651732"/>
                  </a:cubicBezTo>
                  <a:cubicBezTo>
                    <a:pt x="2453" y="647365"/>
                    <a:pt x="0" y="641442"/>
                    <a:pt x="0" y="635266"/>
                  </a:cubicBezTo>
                  <a:lnTo>
                    <a:pt x="0" y="23286"/>
                  </a:lnTo>
                  <a:cubicBezTo>
                    <a:pt x="0" y="17111"/>
                    <a:pt x="2453" y="11188"/>
                    <a:pt x="6820" y="6820"/>
                  </a:cubicBezTo>
                  <a:cubicBezTo>
                    <a:pt x="11188" y="2453"/>
                    <a:pt x="17111" y="0"/>
                    <a:pt x="23286" y="0"/>
                  </a:cubicBezTo>
                  <a:close/>
                </a:path>
              </a:pathLst>
            </a:custGeom>
            <a:solidFill>
              <a:srgbClr val="1D79CD"/>
            </a:solidFill>
            <a:ln w="571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190500"/>
              <a:ext cx="4164086" cy="849052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124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3543684" y="4024647"/>
            <a:ext cx="2313957" cy="1910066"/>
          </a:xfrm>
          <a:custGeom>
            <a:avLst/>
            <a:gdLst/>
            <a:ahLst/>
            <a:cxnLst/>
            <a:rect l="l" t="t" r="r" b="b"/>
            <a:pathLst>
              <a:path w="2313957" h="1910066">
                <a:moveTo>
                  <a:pt x="0" y="0"/>
                </a:moveTo>
                <a:lnTo>
                  <a:pt x="2313957" y="0"/>
                </a:lnTo>
                <a:lnTo>
                  <a:pt x="2313957" y="1910067"/>
                </a:lnTo>
                <a:lnTo>
                  <a:pt x="0" y="19100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074288" y="4012703"/>
            <a:ext cx="2313957" cy="1910066"/>
          </a:xfrm>
          <a:custGeom>
            <a:avLst/>
            <a:gdLst/>
            <a:ahLst/>
            <a:cxnLst/>
            <a:rect l="l" t="t" r="r" b="b"/>
            <a:pathLst>
              <a:path w="2313957" h="1910066">
                <a:moveTo>
                  <a:pt x="0" y="0"/>
                </a:moveTo>
                <a:lnTo>
                  <a:pt x="2313957" y="0"/>
                </a:lnTo>
                <a:lnTo>
                  <a:pt x="2313957" y="1910066"/>
                </a:lnTo>
                <a:lnTo>
                  <a:pt x="0" y="19100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557428" y="3803153"/>
            <a:ext cx="16701872" cy="1727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 spc="1519">
                <a:solidFill>
                  <a:srgbClr val="FFFFFF"/>
                </a:solidFill>
                <a:latin typeface="Chewy"/>
                <a:ea typeface="Chewy"/>
                <a:cs typeface="Chewy"/>
                <a:sym typeface="Chewy"/>
              </a:rPr>
              <a:t>THANK YOU!!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480</Words>
  <Application>Microsoft Office PowerPoint</Application>
  <PresentationFormat>Custom</PresentationFormat>
  <Paragraphs>85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Chewy</vt:lpstr>
      <vt:lpstr>Arial</vt:lpstr>
      <vt:lpstr>TT Rounds Condensed</vt:lpstr>
      <vt:lpstr>TT Rounds Condensed Bold</vt:lpstr>
      <vt:lpstr>Calibri</vt:lpstr>
      <vt:lpstr>Baloo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Bike Dekho Sales Analysis PPT</dc:title>
  <cp:lastModifiedBy>Microsoft account</cp:lastModifiedBy>
  <cp:revision>3</cp:revision>
  <dcterms:created xsi:type="dcterms:W3CDTF">2006-08-16T00:00:00Z</dcterms:created>
  <dcterms:modified xsi:type="dcterms:W3CDTF">2025-11-27T19:22:12Z</dcterms:modified>
  <dc:identifier>DAG5mM-dCc8</dc:identifier>
</cp:coreProperties>
</file>